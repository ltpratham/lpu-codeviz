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 name="Shape 39"/>
          <p:cNvSpPr/>
          <p:nvPr>
            <p:ph type="sldImg"/>
          </p:nvPr>
        </p:nvSpPr>
        <p:spPr>
          <a:prstGeom prst="rect">
            <a:avLst/>
          </a:prstGeom>
        </p:spPr>
        <p:txBody>
          <a:bodyPr/>
          <a:lstStyle/>
          <a:p>
            <a:pPr/>
          </a:p>
        </p:txBody>
      </p:sp>
      <p:sp>
        <p:nvSpPr>
          <p:cNvPr id="40" name="Shape 40"/>
          <p:cNvSpPr/>
          <p:nvPr>
            <p:ph type="body" sz="quarter" idx="1"/>
          </p:nvPr>
        </p:nvSpPr>
        <p:spPr>
          <a:prstGeom prst="rect">
            <a:avLst/>
          </a:prstGeom>
        </p:spPr>
        <p:txBody>
          <a:bodyPr/>
          <a:lstStyle/>
          <a:p>
            <a:pPr/>
            <a:r>
              <a:t>Hey everyone! Let's be honest for a second. How many of you have sat in a programming lab, written code that you thought was 100% correct, only for it to return a completely wrong output? Or worse, you get a 'Segmentation Fault' or 'Index Out of Range' and have absolutely no idea which line actually broke? You raise your hand, but the lab teacher is already surrounded by 15 other students. You end up wasting half the lab session waiting for help, or coding late at night with zero support. That is the coding lab gap, and today, we're changing that.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 name="Shape 67"/>
          <p:cNvSpPr/>
          <p:nvPr>
            <p:ph type="sldImg"/>
          </p:nvPr>
        </p:nvSpPr>
        <p:spPr>
          <a:prstGeom prst="rect">
            <a:avLst/>
          </a:prstGeom>
        </p:spPr>
        <p:txBody>
          <a:bodyPr/>
          <a:lstStyle/>
          <a:p>
            <a:pPr/>
          </a:p>
        </p:txBody>
      </p:sp>
      <p:sp>
        <p:nvSpPr>
          <p:cNvPr id="68" name="Shape 68"/>
          <p:cNvSpPr/>
          <p:nvPr>
            <p:ph type="body" sz="quarter" idx="1"/>
          </p:nvPr>
        </p:nvSpPr>
        <p:spPr>
          <a:prstGeom prst="rect">
            <a:avLst/>
          </a:prstGeom>
        </p:spPr>
        <p:txBody>
          <a:bodyPr/>
          <a:lstStyle/>
          <a:p>
            <a:pPr/>
            <a:r>
              <a:t>The reason programming feels so intimidating when you start is that computer memory is invisible. When a professor explains pointers referencing memory, nodes swapping in a linked list, or stacks popping in a recursion loop, they write it statically on a blackboard. But when you sit in front of VS Code, you can't see the memory stack. You are essentially coding blind. You compile, it fails, and you guess. What if you could actually see your variables mutating, your arrays sorting, and your linked lists linking, step-by-step in real-time?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 name="Shape 89"/>
          <p:cNvSpPr/>
          <p:nvPr>
            <p:ph type="sldImg"/>
          </p:nvPr>
        </p:nvSpPr>
        <p:spPr>
          <a:prstGeom prst="rect">
            <a:avLst/>
          </a:prstGeom>
        </p:spPr>
        <p:txBody>
          <a:bodyPr/>
          <a:lstStyle/>
          <a:p>
            <a:pPr/>
          </a:p>
        </p:txBody>
      </p:sp>
      <p:sp>
        <p:nvSpPr>
          <p:cNvPr id="90" name="Shape 90"/>
          <p:cNvSpPr/>
          <p:nvPr>
            <p:ph type="body" sz="quarter" idx="1"/>
          </p:nvPr>
        </p:nvSpPr>
        <p:spPr>
          <a:prstGeom prst="rect">
            <a:avLst/>
          </a:prstGeom>
        </p:spPr>
        <p:txBody>
          <a:bodyPr/>
          <a:lstStyle/>
          <a:p>
            <a:pPr/>
            <a:r>
              <a:t>This is CodeCanvas, also known as LPU CodeViz. It's a web-based coding environment built specifically for us. You write your C, C++, Python, or SQL code in a built-in editor, click 'Visualize', and the system generates a step-by-step animated playback of your program. You can watch your array bars swap during Bubble Sort, watch your recursion call stack grow and shrink, and see variable scopes update instantly.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Shape 108"/>
          <p:cNvSpPr/>
          <p:nvPr>
            <p:ph type="sldImg"/>
          </p:nvPr>
        </p:nvSpPr>
        <p:spPr>
          <a:prstGeom prst="rect">
            <a:avLst/>
          </a:prstGeom>
        </p:spPr>
        <p:txBody>
          <a:bodyPr/>
          <a:lstStyle/>
          <a:p>
            <a:pPr/>
          </a:p>
        </p:txBody>
      </p:sp>
      <p:sp>
        <p:nvSpPr>
          <p:cNvPr id="109" name="Shape 109"/>
          <p:cNvSpPr/>
          <p:nvPr>
            <p:ph type="body" sz="quarter" idx="1"/>
          </p:nvPr>
        </p:nvSpPr>
        <p:spPr>
          <a:prstGeom prst="rect">
            <a:avLst/>
          </a:prstGeom>
        </p:spPr>
        <p:txBody>
          <a:bodyPr/>
          <a:lstStyle/>
          <a:p>
            <a:pPr/>
            <a:r>
              <a:t>There's a built-in AI Tutor sidebar that acts like a personal teacher, checking your specific code and guiding you to fix bugs without giving away answers. Stuck on a nested loop or a pointer dereference? Just ask it directly, right at the step where you're stuck.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 name="Shape 127"/>
          <p:cNvSpPr/>
          <p:nvPr>
            <p:ph type="sldImg"/>
          </p:nvPr>
        </p:nvSpPr>
        <p:spPr>
          <a:prstGeom prst="rect">
            <a:avLst/>
          </a:prstGeom>
        </p:spPr>
        <p:txBody>
          <a:bodyPr/>
          <a:lstStyle/>
          <a:p>
            <a:pPr/>
          </a:p>
        </p:txBody>
      </p:sp>
      <p:sp>
        <p:nvSpPr>
          <p:cNvPr id="128" name="Shape 128"/>
          <p:cNvSpPr/>
          <p:nvPr>
            <p:ph type="body" sz="quarter" idx="1"/>
          </p:nvPr>
        </p:nvSpPr>
        <p:spPr>
          <a:prstGeom prst="rect">
            <a:avLst/>
          </a:prstGeom>
        </p:spPr>
        <p:txBody>
          <a:bodyPr/>
          <a:lstStyle/>
          <a:p>
            <a:pPr/>
            <a:r>
              <a:t>So how does this help you pass your exams and build real coding skills? First, it gives you an instant mental model of memory, saving you hours of frustration. Second, you can debug your code late at night — it's like having a coding tutor in your browser 24/7. It's gamified: you earn XP, build coding streaks, and once you complete a topic, you get a cryptographically verified certificate shareable on LinkedIn to stand out to recruiters.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Shape 147"/>
          <p:cNvSpPr/>
          <p:nvPr>
            <p:ph type="sldImg"/>
          </p:nvPr>
        </p:nvSpPr>
        <p:spPr>
          <a:prstGeom prst="rect">
            <a:avLst/>
          </a:prstGeom>
        </p:spPr>
        <p:txBody>
          <a:bodyPr/>
          <a:lstStyle/>
          <a:p>
            <a:pPr/>
          </a:p>
        </p:txBody>
      </p:sp>
      <p:sp>
        <p:nvSpPr>
          <p:cNvPr id="148" name="Shape 148"/>
          <p:cNvSpPr/>
          <p:nvPr>
            <p:ph type="body" sz="quarter" idx="1"/>
          </p:nvPr>
        </p:nvSpPr>
        <p:spPr>
          <a:prstGeom prst="rect">
            <a:avLst/>
          </a:prstGeom>
        </p:spPr>
        <p:txBody>
          <a:bodyPr/>
          <a:lstStyle/>
          <a:p>
            <a:pPr/>
            <a:r>
              <a:t>And it's not just solo practice — we've pre-loaded standard syllabus exercises into a competitive mode too. Faculty can host a live 5-minute coding battle projected right on the classroom screen, and you can duel classmates 1v1 to climb the university ELO ladder. It turns a dry algorithm lecture into something closer to an esport.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Shape 173"/>
          <p:cNvSpPr/>
          <p:nvPr>
            <p:ph type="sldImg"/>
          </p:nvPr>
        </p:nvSpPr>
        <p:spPr>
          <a:prstGeom prst="rect">
            <a:avLst/>
          </a:prstGeom>
        </p:spPr>
        <p:txBody>
          <a:bodyPr/>
          <a:lstStyle/>
          <a:p>
            <a:pPr/>
          </a:p>
        </p:txBody>
      </p:sp>
      <p:sp>
        <p:nvSpPr>
          <p:cNvPr id="174" name="Shape 174"/>
          <p:cNvSpPr/>
          <p:nvPr>
            <p:ph type="body" sz="quarter" idx="1"/>
          </p:nvPr>
        </p:nvSpPr>
        <p:spPr>
          <a:prstGeom prst="rect">
            <a:avLst/>
          </a:prstGeom>
        </p:spPr>
        <p:txBody>
          <a:bodyPr/>
          <a:lstStyle/>
          <a:p>
            <a:pPr/>
            <a:r>
              <a:t>Signing up is incredibly fast. Pull out your phone right now, scan the QR code on the screen, or open codecanvas.edu in your browser. Click 'Sign Up', log in instantly with your Google account, and select the 'Student' role. To join our lab section and track your outcomes, simply enter the classroom invite code shown here. It takes less than 30 seconds. Register now, start visualizing your code, and let's make coding labs a breeze this semester. Thanks everyone!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lpu-code-viz.vercel.app/" TargetMode="External"/><Relationship Id="rId4"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8.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 name="codecanvas_background_1920x1080.png" descr="codecanvas_background_1920x1080.png"/>
          <p:cNvPicPr>
            <a:picLocks noChangeAspect="1"/>
          </p:cNvPicPr>
          <p:nvPr/>
        </p:nvPicPr>
        <p:blipFill>
          <a:blip r:embed="rId2">
            <a:extLst/>
          </a:blip>
          <a:stretch>
            <a:fillRect/>
          </a:stretch>
        </p:blipFill>
        <p:spPr>
          <a:xfrm>
            <a:off x="0" y="0"/>
            <a:ext cx="12192000" cy="6858000"/>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22" name="Text 0"/>
          <p:cNvSpPr txBox="1"/>
          <p:nvPr/>
        </p:nvSpPr>
        <p:spPr>
          <a:xfrm>
            <a:off x="594359" y="518159"/>
            <a:ext cx="7223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50" sz="1100">
                <a:solidFill>
                  <a:srgbClr val="3B82F6"/>
                </a:solidFill>
                <a:latin typeface="Courier New"/>
                <a:ea typeface="Courier New"/>
                <a:cs typeface="Courier New"/>
                <a:sym typeface="Courier New"/>
              </a:defRPr>
            </a:lvl1pPr>
          </a:lstStyle>
          <a:p>
            <a:pPr/>
            <a:r>
              <a:t>CODECANVAS </a:t>
            </a:r>
          </a:p>
        </p:txBody>
      </p:sp>
      <p:sp>
        <p:nvSpPr>
          <p:cNvPr id="23" name="Text 1"/>
          <p:cNvSpPr txBox="1"/>
          <p:nvPr/>
        </p:nvSpPr>
        <p:spPr>
          <a:xfrm>
            <a:off x="594359" y="1183907"/>
            <a:ext cx="5669281" cy="119834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04000"/>
              </a:lnSpc>
              <a:defRPr b="1" sz="3800">
                <a:solidFill>
                  <a:srgbClr val="F5F6F8"/>
                </a:solidFill>
              </a:defRPr>
            </a:pPr>
            <a:r>
              <a:t>Why Do Coding Labs</a:t>
            </a:r>
          </a:p>
          <a:p>
            <a:pPr>
              <a:lnSpc>
                <a:spcPct val="104000"/>
              </a:lnSpc>
              <a:defRPr b="1" sz="3800">
                <a:solidFill>
                  <a:srgbClr val="F5F6F8"/>
                </a:solidFill>
              </a:defRPr>
            </a:pPr>
            <a:r>
              <a:t>Feel Like a Nightmare?</a:t>
            </a:r>
          </a:p>
        </p:txBody>
      </p:sp>
      <p:sp>
        <p:nvSpPr>
          <p:cNvPr id="24" name="Text 2"/>
          <p:cNvSpPr txBox="1"/>
          <p:nvPr/>
        </p:nvSpPr>
        <p:spPr>
          <a:xfrm>
            <a:off x="594359" y="2741361"/>
            <a:ext cx="5669281"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3B82F6"/>
                </a:solidFill>
              </a:defRPr>
            </a:lvl1pPr>
          </a:lstStyle>
          <a:p>
            <a:pPr/>
            <a:r>
              <a:t>CodeCanvas (LPU CodeViz)</a:t>
            </a:r>
          </a:p>
        </p:txBody>
      </p:sp>
      <p:sp>
        <p:nvSpPr>
          <p:cNvPr id="25" name="Shape 3"/>
          <p:cNvSpPr/>
          <p:nvPr/>
        </p:nvSpPr>
        <p:spPr>
          <a:xfrm>
            <a:off x="548640" y="3392423"/>
            <a:ext cx="118873" cy="118873"/>
          </a:xfrm>
          <a:prstGeom prst="ellipse">
            <a:avLst/>
          </a:prstGeom>
          <a:solidFill>
            <a:srgbClr val="3B82F6"/>
          </a:solidFill>
          <a:ln w="12700">
            <a:miter lim="400000"/>
          </a:ln>
        </p:spPr>
        <p:txBody>
          <a:bodyPr lIns="45719" rIns="45719"/>
          <a:lstStyle/>
          <a:p>
            <a:pPr/>
          </a:p>
        </p:txBody>
      </p:sp>
      <p:sp>
        <p:nvSpPr>
          <p:cNvPr id="26" name="Text 4"/>
          <p:cNvSpPr txBox="1"/>
          <p:nvPr/>
        </p:nvSpPr>
        <p:spPr>
          <a:xfrm>
            <a:off x="850391" y="3261168"/>
            <a:ext cx="5321809"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F5F6F8"/>
                </a:solidFill>
              </a:defRPr>
            </a:lvl1pPr>
          </a:lstStyle>
          <a:p>
            <a:pPr/>
            <a:r>
              <a:t>Stuck on logic, not syntax</a:t>
            </a:r>
          </a:p>
        </p:txBody>
      </p:sp>
      <p:sp>
        <p:nvSpPr>
          <p:cNvPr id="27" name="Text 5"/>
          <p:cNvSpPr txBox="1"/>
          <p:nvPr/>
        </p:nvSpPr>
        <p:spPr>
          <a:xfrm>
            <a:off x="850391" y="3686478"/>
            <a:ext cx="5321809"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You compile code that looks perfect and still get the wrong output — with zero idea why.</a:t>
            </a:r>
          </a:p>
        </p:txBody>
      </p:sp>
      <p:sp>
        <p:nvSpPr>
          <p:cNvPr id="28" name="Shape 6"/>
          <p:cNvSpPr/>
          <p:nvPr/>
        </p:nvSpPr>
        <p:spPr>
          <a:xfrm>
            <a:off x="548640" y="4178808"/>
            <a:ext cx="118873" cy="118873"/>
          </a:xfrm>
          <a:prstGeom prst="ellipse">
            <a:avLst/>
          </a:prstGeom>
          <a:solidFill>
            <a:srgbClr val="3B82F6"/>
          </a:solidFill>
          <a:ln w="12700">
            <a:miter lim="400000"/>
          </a:ln>
        </p:spPr>
        <p:txBody>
          <a:bodyPr lIns="45719" rIns="45719"/>
          <a:lstStyle/>
          <a:p>
            <a:pPr/>
          </a:p>
        </p:txBody>
      </p:sp>
      <p:sp>
        <p:nvSpPr>
          <p:cNvPr id="29" name="Text 7"/>
          <p:cNvSpPr txBox="1"/>
          <p:nvPr/>
        </p:nvSpPr>
        <p:spPr>
          <a:xfrm>
            <a:off x="850391" y="4047552"/>
            <a:ext cx="5321809"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F5F6F8"/>
                </a:solidFill>
              </a:defRPr>
            </a:lvl1pPr>
          </a:lstStyle>
          <a:p>
            <a:pPr/>
            <a:r>
              <a:t>15 students, 1 instructor</a:t>
            </a:r>
          </a:p>
        </p:txBody>
      </p:sp>
      <p:sp>
        <p:nvSpPr>
          <p:cNvPr id="30" name="Text 8"/>
          <p:cNvSpPr txBox="1"/>
          <p:nvPr/>
        </p:nvSpPr>
        <p:spPr>
          <a:xfrm>
            <a:off x="850391" y="4472861"/>
            <a:ext cx="5321809"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Office hours can’t scale to everyone’s segfault at the same moment.</a:t>
            </a:r>
          </a:p>
        </p:txBody>
      </p:sp>
      <p:sp>
        <p:nvSpPr>
          <p:cNvPr id="31" name="Shape 9"/>
          <p:cNvSpPr/>
          <p:nvPr/>
        </p:nvSpPr>
        <p:spPr>
          <a:xfrm>
            <a:off x="548640" y="4965191"/>
            <a:ext cx="118873" cy="118873"/>
          </a:xfrm>
          <a:prstGeom prst="ellipse">
            <a:avLst/>
          </a:prstGeom>
          <a:solidFill>
            <a:srgbClr val="3B82F6"/>
          </a:solidFill>
          <a:ln w="12700">
            <a:miter lim="400000"/>
          </a:ln>
        </p:spPr>
        <p:txBody>
          <a:bodyPr lIns="45719" rIns="45719"/>
          <a:lstStyle/>
          <a:p>
            <a:pPr/>
          </a:p>
        </p:txBody>
      </p:sp>
      <p:sp>
        <p:nvSpPr>
          <p:cNvPr id="32" name="Text 10"/>
          <p:cNvSpPr txBox="1"/>
          <p:nvPr/>
        </p:nvSpPr>
        <p:spPr>
          <a:xfrm>
            <a:off x="850391" y="4833936"/>
            <a:ext cx="5321809"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F5F6F8"/>
                </a:solidFill>
              </a:defRPr>
            </a:lvl1pPr>
          </a:lstStyle>
          <a:p>
            <a:pPr/>
            <a:r>
              <a:t>Debugging terminals are a wall</a:t>
            </a:r>
          </a:p>
        </p:txBody>
      </p:sp>
      <p:sp>
        <p:nvSpPr>
          <p:cNvPr id="33" name="Text 11"/>
          <p:cNvSpPr txBox="1"/>
          <p:nvPr/>
        </p:nvSpPr>
        <p:spPr>
          <a:xfrm>
            <a:off x="850391" y="5259246"/>
            <a:ext cx="5321809"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A raw stack trace doesn’t teach a beginner what actually broke.</a:t>
            </a:r>
          </a:p>
        </p:txBody>
      </p:sp>
      <p:sp>
        <p:nvSpPr>
          <p:cNvPr id="34" name="Shape 12"/>
          <p:cNvSpPr/>
          <p:nvPr/>
        </p:nvSpPr>
        <p:spPr>
          <a:xfrm>
            <a:off x="6611111" y="1490472"/>
            <a:ext cx="5157217" cy="2593379"/>
          </a:xfrm>
          <a:prstGeom prst="roundRect">
            <a:avLst>
              <a:gd name="adj" fmla="val 3173"/>
            </a:avLst>
          </a:prstGeom>
          <a:solidFill>
            <a:srgbClr val="13151C"/>
          </a:solidFill>
          <a:ln w="12700">
            <a:solidFill>
              <a:srgbClr val="23262F"/>
            </a:solidFill>
          </a:ln>
          <a:effectLst>
            <a:outerShdw sx="100000" sy="100000" kx="0" ky="0" algn="b" rotWithShape="0" blurRad="228600" dist="76200" dir="5400000">
              <a:srgbClr val="000000">
                <a:alpha val="55000"/>
              </a:srgbClr>
            </a:outerShdw>
          </a:effectLst>
        </p:spPr>
        <p:txBody>
          <a:bodyPr lIns="45719" rIns="45719"/>
          <a:lstStyle/>
          <a:p>
            <a:pPr/>
          </a:p>
        </p:txBody>
      </p:sp>
      <p:pic>
        <p:nvPicPr>
          <p:cNvPr id="35" name="Image 0" descr="Image 0"/>
          <p:cNvPicPr>
            <a:picLocks noChangeAspect="1"/>
          </p:cNvPicPr>
          <p:nvPr/>
        </p:nvPicPr>
        <p:blipFill>
          <a:blip r:embed="rId3">
            <a:extLst/>
          </a:blip>
          <a:stretch>
            <a:fillRect/>
          </a:stretch>
        </p:blipFill>
        <p:spPr>
          <a:xfrm>
            <a:off x="6720840" y="1600200"/>
            <a:ext cx="4937760" cy="2373923"/>
          </a:xfrm>
          <a:prstGeom prst="rect">
            <a:avLst/>
          </a:prstGeom>
          <a:ln w="12700">
            <a:miter lim="400000"/>
          </a:ln>
        </p:spPr>
      </p:pic>
      <p:sp>
        <p:nvSpPr>
          <p:cNvPr id="36" name="Text 13"/>
          <p:cNvSpPr txBox="1"/>
          <p:nvPr/>
        </p:nvSpPr>
        <p:spPr>
          <a:xfrm>
            <a:off x="502919" y="6563106"/>
            <a:ext cx="2651762"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6B7280"/>
                </a:solidFill>
                <a:latin typeface="Courier New"/>
                <a:ea typeface="Courier New"/>
                <a:cs typeface="Courier New"/>
                <a:sym typeface="Courier New"/>
              </a:defRPr>
            </a:lvl1pPr>
          </a:lstStyle>
          <a:p>
            <a:pPr/>
            <a:r>
              <a:t>CODECANVAS</a:t>
            </a:r>
          </a:p>
        </p:txBody>
      </p:sp>
      <p:sp>
        <p:nvSpPr>
          <p:cNvPr id="37" name="Text 14"/>
          <p:cNvSpPr txBox="1"/>
          <p:nvPr/>
        </p:nvSpPr>
        <p:spPr>
          <a:xfrm>
            <a:off x="11384279" y="6563106"/>
            <a:ext cx="365761"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6B7280"/>
                </a:solidFill>
                <a:latin typeface="Courier New"/>
                <a:ea typeface="Courier New"/>
                <a:cs typeface="Courier New"/>
                <a:sym typeface="Courier New"/>
              </a:defRPr>
            </a:lvl1pPr>
          </a:lstStyle>
          <a:p>
            <a:pPr/>
            <a:r>
              <a:t>01</a:t>
            </a:r>
          </a:p>
        </p:txBody>
      </p:sp>
      <p:pic>
        <p:nvPicPr>
          <p:cNvPr id="38" name="codecanvas_icon_dark_256.png" descr="codecanvas_icon_dark_256.png"/>
          <p:cNvPicPr>
            <a:picLocks noChangeAspect="1"/>
          </p:cNvPicPr>
          <p:nvPr/>
        </p:nvPicPr>
        <p:blipFill>
          <a:blip r:embed="rId4">
            <a:extLst/>
          </a:blip>
          <a:stretch>
            <a:fillRect/>
          </a:stretch>
        </p:blipFill>
        <p:spPr>
          <a:xfrm>
            <a:off x="11088583" y="161503"/>
            <a:ext cx="957153" cy="957154"/>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42" name="Text 0"/>
          <p:cNvSpPr txBox="1"/>
          <p:nvPr/>
        </p:nvSpPr>
        <p:spPr>
          <a:xfrm>
            <a:off x="594359" y="518159"/>
            <a:ext cx="7223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50" sz="1100">
                <a:solidFill>
                  <a:srgbClr val="F59E0B"/>
                </a:solidFill>
                <a:latin typeface="Courier New"/>
                <a:ea typeface="Courier New"/>
                <a:cs typeface="Courier New"/>
                <a:sym typeface="Courier New"/>
              </a:defRPr>
            </a:lvl1pPr>
          </a:lstStyle>
          <a:p>
            <a:pPr/>
            <a:r>
              <a:t>THE CORE PROBLEM</a:t>
            </a:r>
          </a:p>
        </p:txBody>
      </p:sp>
      <p:sp>
        <p:nvSpPr>
          <p:cNvPr id="43" name="Text 1"/>
          <p:cNvSpPr txBox="1"/>
          <p:nvPr/>
        </p:nvSpPr>
        <p:spPr>
          <a:xfrm>
            <a:off x="594359" y="848756"/>
            <a:ext cx="7223761" cy="49704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200">
                <a:solidFill>
                  <a:srgbClr val="F5F6F8"/>
                </a:solidFill>
              </a:defRPr>
            </a:lvl1pPr>
          </a:lstStyle>
          <a:p>
            <a:pPr/>
            <a:r>
              <a:t>Memory Is Invisible</a:t>
            </a:r>
          </a:p>
        </p:txBody>
      </p:sp>
      <p:sp>
        <p:nvSpPr>
          <p:cNvPr id="44" name="Shape 2"/>
          <p:cNvSpPr/>
          <p:nvPr/>
        </p:nvSpPr>
        <p:spPr>
          <a:xfrm>
            <a:off x="548640" y="1975104"/>
            <a:ext cx="118873" cy="118873"/>
          </a:xfrm>
          <a:prstGeom prst="ellipse">
            <a:avLst/>
          </a:prstGeom>
          <a:solidFill>
            <a:srgbClr val="F59E0B"/>
          </a:solidFill>
          <a:ln w="12700">
            <a:miter lim="400000"/>
          </a:ln>
        </p:spPr>
        <p:txBody>
          <a:bodyPr lIns="45719" rIns="45719"/>
          <a:lstStyle/>
          <a:p>
            <a:pPr/>
          </a:p>
        </p:txBody>
      </p:sp>
      <p:sp>
        <p:nvSpPr>
          <p:cNvPr id="45" name="Text 3"/>
          <p:cNvSpPr txBox="1"/>
          <p:nvPr/>
        </p:nvSpPr>
        <p:spPr>
          <a:xfrm>
            <a:off x="850391" y="1845250"/>
            <a:ext cx="5047489"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Coding Blind</a:t>
            </a:r>
          </a:p>
        </p:txBody>
      </p:sp>
      <p:sp>
        <p:nvSpPr>
          <p:cNvPr id="46" name="Text 4"/>
          <p:cNvSpPr txBox="1"/>
          <p:nvPr/>
        </p:nvSpPr>
        <p:spPr>
          <a:xfrm>
            <a:off x="850391" y="2401746"/>
            <a:ext cx="5047489"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Standard compilers run your script but keep the memory layout completely hidden.</a:t>
            </a:r>
          </a:p>
        </p:txBody>
      </p:sp>
      <p:sp>
        <p:nvSpPr>
          <p:cNvPr id="47" name="Shape 5"/>
          <p:cNvSpPr/>
          <p:nvPr/>
        </p:nvSpPr>
        <p:spPr>
          <a:xfrm>
            <a:off x="548640" y="3026664"/>
            <a:ext cx="118873" cy="118873"/>
          </a:xfrm>
          <a:prstGeom prst="ellipse">
            <a:avLst/>
          </a:prstGeom>
          <a:solidFill>
            <a:srgbClr val="F59E0B"/>
          </a:solidFill>
          <a:ln w="12700">
            <a:miter lim="400000"/>
          </a:ln>
        </p:spPr>
        <p:txBody>
          <a:bodyPr lIns="45719" rIns="45719"/>
          <a:lstStyle/>
          <a:p>
            <a:pPr/>
          </a:p>
        </p:txBody>
      </p:sp>
      <p:sp>
        <p:nvSpPr>
          <p:cNvPr id="48" name="Text 6"/>
          <p:cNvSpPr txBox="1"/>
          <p:nvPr/>
        </p:nvSpPr>
        <p:spPr>
          <a:xfrm>
            <a:off x="850391" y="2896810"/>
            <a:ext cx="5047489"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Static Blackboard Theory</a:t>
            </a:r>
          </a:p>
        </p:txBody>
      </p:sp>
      <p:sp>
        <p:nvSpPr>
          <p:cNvPr id="49" name="Text 7"/>
          <p:cNvSpPr txBox="1"/>
          <p:nvPr/>
        </p:nvSpPr>
        <p:spPr>
          <a:xfrm>
            <a:off x="850391" y="3453305"/>
            <a:ext cx="5047489"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Pointers, stacks, and node links get explained as diagrams — not as motion.</a:t>
            </a:r>
          </a:p>
        </p:txBody>
      </p:sp>
      <p:sp>
        <p:nvSpPr>
          <p:cNvPr id="50" name="Shape 8"/>
          <p:cNvSpPr/>
          <p:nvPr/>
        </p:nvSpPr>
        <p:spPr>
          <a:xfrm>
            <a:off x="548640" y="4078223"/>
            <a:ext cx="118873" cy="118873"/>
          </a:xfrm>
          <a:prstGeom prst="ellipse">
            <a:avLst/>
          </a:prstGeom>
          <a:solidFill>
            <a:srgbClr val="F59E0B"/>
          </a:solidFill>
          <a:ln w="12700">
            <a:miter lim="400000"/>
          </a:ln>
        </p:spPr>
        <p:txBody>
          <a:bodyPr lIns="45719" rIns="45719"/>
          <a:lstStyle/>
          <a:p>
            <a:pPr/>
          </a:p>
        </p:txBody>
      </p:sp>
      <p:sp>
        <p:nvSpPr>
          <p:cNvPr id="51" name="Text 9"/>
          <p:cNvSpPr txBox="1"/>
          <p:nvPr/>
        </p:nvSpPr>
        <p:spPr>
          <a:xfrm>
            <a:off x="850391" y="3948369"/>
            <a:ext cx="5047489"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Guesswork Debugging</a:t>
            </a:r>
          </a:p>
        </p:txBody>
      </p:sp>
      <p:sp>
        <p:nvSpPr>
          <p:cNvPr id="52" name="Text 10"/>
          <p:cNvSpPr txBox="1"/>
          <p:nvPr/>
        </p:nvSpPr>
        <p:spPr>
          <a:xfrm>
            <a:off x="850391" y="4504866"/>
            <a:ext cx="5047489"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Without a mental model of memory, every failed run turns into a guess.</a:t>
            </a:r>
          </a:p>
        </p:txBody>
      </p:sp>
      <p:sp>
        <p:nvSpPr>
          <p:cNvPr id="53" name="Shape 11"/>
          <p:cNvSpPr/>
          <p:nvPr/>
        </p:nvSpPr>
        <p:spPr>
          <a:xfrm>
            <a:off x="6858000" y="4434840"/>
            <a:ext cx="1554481" cy="1371601"/>
          </a:xfrm>
          <a:prstGeom prst="roundRect">
            <a:avLst>
              <a:gd name="adj" fmla="val 5333"/>
            </a:avLst>
          </a:prstGeom>
          <a:solidFill>
            <a:srgbClr val="13151C"/>
          </a:solidFill>
          <a:ln w="12700">
            <a:solidFill>
              <a:srgbClr val="23262F"/>
            </a:solidFill>
          </a:ln>
        </p:spPr>
        <p:txBody>
          <a:bodyPr lIns="45719" rIns="45719"/>
          <a:lstStyle/>
          <a:p>
            <a:pPr/>
          </a:p>
        </p:txBody>
      </p:sp>
      <p:sp>
        <p:nvSpPr>
          <p:cNvPr id="54" name="Text 12"/>
          <p:cNvSpPr txBox="1"/>
          <p:nvPr/>
        </p:nvSpPr>
        <p:spPr>
          <a:xfrm>
            <a:off x="6903719" y="4627371"/>
            <a:ext cx="146304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pc="50" sz="900">
                <a:solidFill>
                  <a:srgbClr val="9AA0AC"/>
                </a:solidFill>
                <a:latin typeface="Courier New"/>
                <a:ea typeface="Courier New"/>
                <a:cs typeface="Courier New"/>
                <a:sym typeface="Courier New"/>
              </a:defRPr>
            </a:lvl1pPr>
          </a:lstStyle>
          <a:p>
            <a:pPr/>
            <a:r>
              <a:t>YOUR CODE</a:t>
            </a:r>
          </a:p>
        </p:txBody>
      </p:sp>
      <p:sp>
        <p:nvSpPr>
          <p:cNvPr id="55" name="Text 13"/>
          <p:cNvSpPr txBox="1"/>
          <p:nvPr/>
        </p:nvSpPr>
        <p:spPr>
          <a:xfrm>
            <a:off x="6903719" y="4942839"/>
            <a:ext cx="1463041"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F5F6F8"/>
                </a:solidFill>
                <a:latin typeface="Courier New"/>
                <a:ea typeface="Courier New"/>
                <a:cs typeface="Courier New"/>
                <a:sym typeface="Courier New"/>
              </a:defRPr>
            </a:lvl1pPr>
          </a:lstStyle>
          <a:p>
            <a:pPr/>
            <a:r>
              <a:t>arr[j] &gt; arr[j+1]</a:t>
            </a:r>
          </a:p>
        </p:txBody>
      </p:sp>
      <p:sp>
        <p:nvSpPr>
          <p:cNvPr id="56" name="Shape 14"/>
          <p:cNvSpPr/>
          <p:nvPr/>
        </p:nvSpPr>
        <p:spPr>
          <a:xfrm>
            <a:off x="8915400" y="4434840"/>
            <a:ext cx="1417320" cy="1371601"/>
          </a:xfrm>
          <a:prstGeom prst="roundRect">
            <a:avLst>
              <a:gd name="adj" fmla="val 5333"/>
            </a:avLst>
          </a:prstGeom>
          <a:solidFill>
            <a:srgbClr val="0B0D12"/>
          </a:solidFill>
          <a:ln w="15875">
            <a:solidFill>
              <a:srgbClr val="F59E0B"/>
            </a:solidFill>
            <a:prstDash val="dash"/>
          </a:ln>
        </p:spPr>
        <p:txBody>
          <a:bodyPr lIns="45719" rIns="45719"/>
          <a:lstStyle/>
          <a:p>
            <a:pPr/>
          </a:p>
        </p:txBody>
      </p:sp>
      <p:sp>
        <p:nvSpPr>
          <p:cNvPr id="57" name="Text 15"/>
          <p:cNvSpPr txBox="1"/>
          <p:nvPr/>
        </p:nvSpPr>
        <p:spPr>
          <a:xfrm>
            <a:off x="8961119" y="4627371"/>
            <a:ext cx="132588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pc="50" sz="900">
                <a:solidFill>
                  <a:srgbClr val="9AA0AC"/>
                </a:solidFill>
                <a:latin typeface="Courier New"/>
                <a:ea typeface="Courier New"/>
                <a:cs typeface="Courier New"/>
                <a:sym typeface="Courier New"/>
              </a:defRPr>
            </a:lvl1pPr>
          </a:lstStyle>
          <a:p>
            <a:pPr/>
            <a:r>
              <a:t>MEMORY</a:t>
            </a:r>
          </a:p>
        </p:txBody>
      </p:sp>
      <p:sp>
        <p:nvSpPr>
          <p:cNvPr id="58" name="Text 16"/>
          <p:cNvSpPr txBox="1"/>
          <p:nvPr/>
        </p:nvSpPr>
        <p:spPr>
          <a:xfrm>
            <a:off x="8961119" y="5031739"/>
            <a:ext cx="132588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F59E0B"/>
                </a:solidFill>
                <a:latin typeface="Courier New"/>
                <a:ea typeface="Courier New"/>
                <a:cs typeface="Courier New"/>
                <a:sym typeface="Courier New"/>
              </a:defRPr>
            </a:lvl1pPr>
          </a:lstStyle>
          <a:p>
            <a:pPr/>
            <a:r>
              <a:t>? ? ?</a:t>
            </a:r>
          </a:p>
        </p:txBody>
      </p:sp>
      <p:sp>
        <p:nvSpPr>
          <p:cNvPr id="59" name="Shape 17"/>
          <p:cNvSpPr/>
          <p:nvPr/>
        </p:nvSpPr>
        <p:spPr>
          <a:xfrm>
            <a:off x="10835640" y="4434840"/>
            <a:ext cx="914401" cy="1371601"/>
          </a:xfrm>
          <a:prstGeom prst="roundRect">
            <a:avLst>
              <a:gd name="adj" fmla="val 8000"/>
            </a:avLst>
          </a:prstGeom>
          <a:solidFill>
            <a:srgbClr val="13151C"/>
          </a:solidFill>
          <a:ln w="12700">
            <a:solidFill>
              <a:srgbClr val="23262F"/>
            </a:solidFill>
          </a:ln>
        </p:spPr>
        <p:txBody>
          <a:bodyPr lIns="45719" rIns="45719"/>
          <a:lstStyle/>
          <a:p>
            <a:pPr/>
          </a:p>
        </p:txBody>
      </p:sp>
      <p:sp>
        <p:nvSpPr>
          <p:cNvPr id="60" name="Text 18"/>
          <p:cNvSpPr txBox="1"/>
          <p:nvPr/>
        </p:nvSpPr>
        <p:spPr>
          <a:xfrm>
            <a:off x="10881359" y="4627371"/>
            <a:ext cx="82296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pc="50" sz="900">
                <a:solidFill>
                  <a:srgbClr val="9AA0AC"/>
                </a:solidFill>
                <a:latin typeface="Courier New"/>
                <a:ea typeface="Courier New"/>
                <a:cs typeface="Courier New"/>
                <a:sym typeface="Courier New"/>
              </a:defRPr>
            </a:lvl1pPr>
          </a:lstStyle>
          <a:p>
            <a:pPr/>
            <a:r>
              <a:t>OUTPUT</a:t>
            </a:r>
          </a:p>
        </p:txBody>
      </p:sp>
      <p:sp>
        <p:nvSpPr>
          <p:cNvPr id="61" name="Text 19"/>
          <p:cNvSpPr txBox="1"/>
          <p:nvPr/>
        </p:nvSpPr>
        <p:spPr>
          <a:xfrm>
            <a:off x="10881359" y="5031739"/>
            <a:ext cx="82296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F5F6F8"/>
                </a:solidFill>
                <a:latin typeface="Courier New"/>
                <a:ea typeface="Courier New"/>
                <a:cs typeface="Courier New"/>
                <a:sym typeface="Courier New"/>
              </a:defRPr>
            </a:lvl1pPr>
          </a:lstStyle>
          <a:p>
            <a:pPr/>
            <a:r>
              <a:t>wrong</a:t>
            </a:r>
          </a:p>
        </p:txBody>
      </p:sp>
      <p:sp>
        <p:nvSpPr>
          <p:cNvPr id="62" name="Text 20"/>
          <p:cNvSpPr txBox="1"/>
          <p:nvPr/>
        </p:nvSpPr>
        <p:spPr>
          <a:xfrm>
            <a:off x="8458200" y="4950549"/>
            <a:ext cx="411480" cy="34018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000">
                <a:solidFill>
                  <a:srgbClr val="6B7280"/>
                </a:solidFill>
              </a:defRPr>
            </a:lvl1pPr>
          </a:lstStyle>
          <a:p>
            <a:pPr/>
            <a:r>
              <a:t>→</a:t>
            </a:r>
          </a:p>
        </p:txBody>
      </p:sp>
      <p:sp>
        <p:nvSpPr>
          <p:cNvPr id="63" name="Text 21"/>
          <p:cNvSpPr txBox="1"/>
          <p:nvPr/>
        </p:nvSpPr>
        <p:spPr>
          <a:xfrm>
            <a:off x="10378439" y="4950549"/>
            <a:ext cx="411480" cy="34018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000">
                <a:solidFill>
                  <a:srgbClr val="6B7280"/>
                </a:solidFill>
              </a:defRPr>
            </a:lvl1pPr>
          </a:lstStyle>
          <a:p>
            <a:pPr/>
            <a:r>
              <a:t>→</a:t>
            </a:r>
          </a:p>
        </p:txBody>
      </p:sp>
      <p:sp>
        <p:nvSpPr>
          <p:cNvPr id="64" name="Text 22"/>
          <p:cNvSpPr txBox="1"/>
          <p:nvPr/>
        </p:nvSpPr>
        <p:spPr>
          <a:xfrm>
            <a:off x="502919" y="6563106"/>
            <a:ext cx="2651762"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6B7280"/>
                </a:solidFill>
                <a:latin typeface="Courier New"/>
                <a:ea typeface="Courier New"/>
                <a:cs typeface="Courier New"/>
                <a:sym typeface="Courier New"/>
              </a:defRPr>
            </a:lvl1pPr>
          </a:lstStyle>
          <a:p>
            <a:pPr/>
            <a:r>
              <a:t>CODECANVAS</a:t>
            </a:r>
          </a:p>
        </p:txBody>
      </p:sp>
      <p:sp>
        <p:nvSpPr>
          <p:cNvPr id="65" name="Text 23"/>
          <p:cNvSpPr txBox="1"/>
          <p:nvPr/>
        </p:nvSpPr>
        <p:spPr>
          <a:xfrm>
            <a:off x="11384279" y="6563106"/>
            <a:ext cx="365761"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6B7280"/>
                </a:solidFill>
                <a:latin typeface="Courier New"/>
                <a:ea typeface="Courier New"/>
                <a:cs typeface="Courier New"/>
                <a:sym typeface="Courier New"/>
              </a:defRPr>
            </a:lvl1pPr>
          </a:lstStyle>
          <a:p>
            <a:pPr/>
            <a:r>
              <a:t>02</a:t>
            </a:r>
          </a:p>
        </p:txBody>
      </p:sp>
      <p:pic>
        <p:nvPicPr>
          <p:cNvPr id="66" name="codecanvas_icon_dark_256.png" descr="codecanvas_icon_dark_256.png"/>
          <p:cNvPicPr>
            <a:picLocks noChangeAspect="1"/>
          </p:cNvPicPr>
          <p:nvPr/>
        </p:nvPicPr>
        <p:blipFill>
          <a:blip r:embed="rId3">
            <a:extLst/>
          </a:blip>
          <a:stretch>
            <a:fillRect/>
          </a:stretch>
        </p:blipFill>
        <p:spPr>
          <a:xfrm>
            <a:off x="11088582" y="161503"/>
            <a:ext cx="957154" cy="957154"/>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70" name="Text 0"/>
          <p:cNvSpPr txBox="1"/>
          <p:nvPr/>
        </p:nvSpPr>
        <p:spPr>
          <a:xfrm>
            <a:off x="594359" y="518159"/>
            <a:ext cx="7223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50" sz="1100">
                <a:solidFill>
                  <a:srgbClr val="3B82F6"/>
                </a:solidFill>
                <a:latin typeface="Courier New"/>
                <a:ea typeface="Courier New"/>
                <a:cs typeface="Courier New"/>
                <a:sym typeface="Courier New"/>
              </a:defRPr>
            </a:lvl1pPr>
          </a:lstStyle>
          <a:p>
            <a:pPr/>
            <a:r>
              <a:t>THE SOLUTION</a:t>
            </a:r>
          </a:p>
        </p:txBody>
      </p:sp>
      <p:sp>
        <p:nvSpPr>
          <p:cNvPr id="71" name="Text 1"/>
          <p:cNvSpPr txBox="1"/>
          <p:nvPr/>
        </p:nvSpPr>
        <p:spPr>
          <a:xfrm>
            <a:off x="594359" y="898023"/>
            <a:ext cx="5029201"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F5F6F8"/>
                </a:solidFill>
              </a:defRPr>
            </a:lvl1pPr>
          </a:lstStyle>
          <a:p>
            <a:pPr/>
            <a:r>
              <a:t>CodeCanvas (LPU CodeViz)</a:t>
            </a:r>
          </a:p>
        </p:txBody>
      </p:sp>
      <p:sp>
        <p:nvSpPr>
          <p:cNvPr id="72" name="Shape 2"/>
          <p:cNvSpPr/>
          <p:nvPr/>
        </p:nvSpPr>
        <p:spPr>
          <a:xfrm>
            <a:off x="548640" y="1929383"/>
            <a:ext cx="118873" cy="118873"/>
          </a:xfrm>
          <a:prstGeom prst="ellipse">
            <a:avLst/>
          </a:prstGeom>
          <a:solidFill>
            <a:srgbClr val="3B82F6"/>
          </a:solidFill>
          <a:ln w="12700">
            <a:miter lim="400000"/>
          </a:ln>
        </p:spPr>
        <p:txBody>
          <a:bodyPr lIns="45719" rIns="45719"/>
          <a:lstStyle/>
          <a:p>
            <a:pPr/>
          </a:p>
        </p:txBody>
      </p:sp>
      <p:sp>
        <p:nvSpPr>
          <p:cNvPr id="73" name="Text 3"/>
          <p:cNvSpPr txBox="1"/>
          <p:nvPr/>
        </p:nvSpPr>
        <p:spPr>
          <a:xfrm>
            <a:off x="850391" y="1809427"/>
            <a:ext cx="4315969"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F5F6F8"/>
                </a:solidFill>
              </a:defRPr>
            </a:lvl1pPr>
          </a:lstStyle>
          <a:p>
            <a:pPr/>
            <a:r>
              <a:t>Monaco Coding Editor</a:t>
            </a:r>
          </a:p>
        </p:txBody>
      </p:sp>
      <p:sp>
        <p:nvSpPr>
          <p:cNvPr id="74" name="Text 4"/>
          <p:cNvSpPr txBox="1"/>
          <p:nvPr/>
        </p:nvSpPr>
        <p:spPr>
          <a:xfrm>
            <a:off x="850391" y="2263184"/>
            <a:ext cx="4315969"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000">
                <a:solidFill>
                  <a:srgbClr val="9AA0AC"/>
                </a:solidFill>
              </a:defRPr>
            </a:lvl1pPr>
          </a:lstStyle>
          <a:p>
            <a:pPr/>
            <a:r>
              <a:t>Paste and edit real C, C++, Python, Java, or SQL — no setup required.</a:t>
            </a:r>
          </a:p>
        </p:txBody>
      </p:sp>
      <p:sp>
        <p:nvSpPr>
          <p:cNvPr id="75" name="Shape 5"/>
          <p:cNvSpPr/>
          <p:nvPr/>
        </p:nvSpPr>
        <p:spPr>
          <a:xfrm>
            <a:off x="548640" y="2798064"/>
            <a:ext cx="118873" cy="118873"/>
          </a:xfrm>
          <a:prstGeom prst="ellipse">
            <a:avLst/>
          </a:prstGeom>
          <a:solidFill>
            <a:srgbClr val="3B82F6"/>
          </a:solidFill>
          <a:ln w="12700">
            <a:miter lim="400000"/>
          </a:ln>
        </p:spPr>
        <p:txBody>
          <a:bodyPr lIns="45719" rIns="45719"/>
          <a:lstStyle/>
          <a:p>
            <a:pPr/>
          </a:p>
        </p:txBody>
      </p:sp>
      <p:sp>
        <p:nvSpPr>
          <p:cNvPr id="76" name="Text 6"/>
          <p:cNvSpPr txBox="1"/>
          <p:nvPr/>
        </p:nvSpPr>
        <p:spPr>
          <a:xfrm>
            <a:off x="850391" y="2678107"/>
            <a:ext cx="4315969"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F5F6F8"/>
                </a:solidFill>
              </a:defRPr>
            </a:lvl1pPr>
          </a:lstStyle>
          <a:p>
            <a:pPr/>
            <a:r>
              <a:t>10 Animated Canvases</a:t>
            </a:r>
          </a:p>
        </p:txBody>
      </p:sp>
      <p:sp>
        <p:nvSpPr>
          <p:cNvPr id="77" name="Text 7"/>
          <p:cNvSpPr txBox="1"/>
          <p:nvPr/>
        </p:nvSpPr>
        <p:spPr>
          <a:xfrm>
            <a:off x="850391" y="3131864"/>
            <a:ext cx="4315969"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000">
                <a:solidFill>
                  <a:srgbClr val="9AA0AC"/>
                </a:solidFill>
              </a:defRPr>
            </a:lvl1pPr>
          </a:lstStyle>
          <a:p>
            <a:pPr/>
            <a:r>
              <a:t>Watch arrays sort, stacks pop, and trees balance — one step at a time.</a:t>
            </a:r>
          </a:p>
        </p:txBody>
      </p:sp>
      <p:sp>
        <p:nvSpPr>
          <p:cNvPr id="78" name="Shape 8"/>
          <p:cNvSpPr/>
          <p:nvPr/>
        </p:nvSpPr>
        <p:spPr>
          <a:xfrm>
            <a:off x="548640" y="3666744"/>
            <a:ext cx="118873" cy="118873"/>
          </a:xfrm>
          <a:prstGeom prst="ellipse">
            <a:avLst/>
          </a:prstGeom>
          <a:solidFill>
            <a:srgbClr val="3B82F6"/>
          </a:solidFill>
          <a:ln w="12700">
            <a:miter lim="400000"/>
          </a:ln>
        </p:spPr>
        <p:txBody>
          <a:bodyPr lIns="45719" rIns="45719"/>
          <a:lstStyle/>
          <a:p>
            <a:pPr/>
          </a:p>
        </p:txBody>
      </p:sp>
      <p:sp>
        <p:nvSpPr>
          <p:cNvPr id="79" name="Text 9"/>
          <p:cNvSpPr txBox="1"/>
          <p:nvPr/>
        </p:nvSpPr>
        <p:spPr>
          <a:xfrm>
            <a:off x="850391" y="3546787"/>
            <a:ext cx="4315969"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F5F6F8"/>
                </a:solidFill>
              </a:defRPr>
            </a:lvl1pPr>
          </a:lstStyle>
          <a:p>
            <a:pPr/>
            <a:r>
              <a:t>Live Variables Board</a:t>
            </a:r>
          </a:p>
        </p:txBody>
      </p:sp>
      <p:sp>
        <p:nvSpPr>
          <p:cNvPr id="80" name="Text 10"/>
          <p:cNvSpPr txBox="1"/>
          <p:nvPr/>
        </p:nvSpPr>
        <p:spPr>
          <a:xfrm>
            <a:off x="850391" y="4000544"/>
            <a:ext cx="4315969"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000">
                <a:solidFill>
                  <a:srgbClr val="9AA0AC"/>
                </a:solidFill>
              </a:defRPr>
            </a:lvl1pPr>
          </a:lstStyle>
          <a:p>
            <a:pPr/>
            <a:r>
              <a:t>Track every variable mutation and scope change in real time.</a:t>
            </a:r>
          </a:p>
        </p:txBody>
      </p:sp>
      <p:sp>
        <p:nvSpPr>
          <p:cNvPr id="81" name="Shape 11"/>
          <p:cNvSpPr/>
          <p:nvPr/>
        </p:nvSpPr>
        <p:spPr>
          <a:xfrm>
            <a:off x="548640" y="4535423"/>
            <a:ext cx="118873" cy="118873"/>
          </a:xfrm>
          <a:prstGeom prst="ellipse">
            <a:avLst/>
          </a:prstGeom>
          <a:solidFill>
            <a:srgbClr val="3B82F6"/>
          </a:solidFill>
          <a:ln w="12700">
            <a:miter lim="400000"/>
          </a:ln>
        </p:spPr>
        <p:txBody>
          <a:bodyPr lIns="45719" rIns="45719"/>
          <a:lstStyle/>
          <a:p>
            <a:pPr/>
          </a:p>
        </p:txBody>
      </p:sp>
      <p:sp>
        <p:nvSpPr>
          <p:cNvPr id="82" name="Text 12"/>
          <p:cNvSpPr txBox="1"/>
          <p:nvPr/>
        </p:nvSpPr>
        <p:spPr>
          <a:xfrm>
            <a:off x="850391" y="4415466"/>
            <a:ext cx="4315969"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F5F6F8"/>
                </a:solidFill>
              </a:defRPr>
            </a:lvl1pPr>
          </a:lstStyle>
          <a:p>
            <a:pPr/>
            <a:r>
              <a:t>AI Tutor Companion</a:t>
            </a:r>
          </a:p>
        </p:txBody>
      </p:sp>
      <p:sp>
        <p:nvSpPr>
          <p:cNvPr id="83" name="Text 13"/>
          <p:cNvSpPr txBox="1"/>
          <p:nvPr/>
        </p:nvSpPr>
        <p:spPr>
          <a:xfrm>
            <a:off x="850391" y="4869224"/>
            <a:ext cx="4315969"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000">
                <a:solidFill>
                  <a:srgbClr val="9AA0AC"/>
                </a:solidFill>
              </a:defRPr>
            </a:lvl1pPr>
          </a:lstStyle>
          <a:p>
            <a:pPr/>
            <a:r>
              <a:t>Hint-driven guidance that nudges you toward the fix — not the answer.</a:t>
            </a:r>
          </a:p>
        </p:txBody>
      </p:sp>
      <p:sp>
        <p:nvSpPr>
          <p:cNvPr id="84" name="Shape 14"/>
          <p:cNvSpPr/>
          <p:nvPr/>
        </p:nvSpPr>
        <p:spPr>
          <a:xfrm>
            <a:off x="5513832" y="1307591"/>
            <a:ext cx="6254497" cy="3120920"/>
          </a:xfrm>
          <a:prstGeom prst="roundRect">
            <a:avLst>
              <a:gd name="adj" fmla="val 2637"/>
            </a:avLst>
          </a:prstGeom>
          <a:solidFill>
            <a:srgbClr val="13151C"/>
          </a:solidFill>
          <a:ln w="12700">
            <a:solidFill>
              <a:srgbClr val="23262F"/>
            </a:solidFill>
          </a:ln>
          <a:effectLst>
            <a:outerShdw sx="100000" sy="100000" kx="0" ky="0" algn="b" rotWithShape="0" blurRad="228600" dist="76200" dir="5400000">
              <a:srgbClr val="000000">
                <a:alpha val="55000"/>
              </a:srgbClr>
            </a:outerShdw>
          </a:effectLst>
        </p:spPr>
        <p:txBody>
          <a:bodyPr lIns="45719" rIns="45719"/>
          <a:lstStyle/>
          <a:p>
            <a:pPr/>
          </a:p>
        </p:txBody>
      </p:sp>
      <p:pic>
        <p:nvPicPr>
          <p:cNvPr id="85" name="Image 0" descr="Image 0"/>
          <p:cNvPicPr>
            <a:picLocks noChangeAspect="1"/>
          </p:cNvPicPr>
          <p:nvPr/>
        </p:nvPicPr>
        <p:blipFill>
          <a:blip r:embed="rId3">
            <a:extLst/>
          </a:blip>
          <a:stretch>
            <a:fillRect/>
          </a:stretch>
        </p:blipFill>
        <p:spPr>
          <a:xfrm>
            <a:off x="5623559" y="1417319"/>
            <a:ext cx="6035041" cy="2901464"/>
          </a:xfrm>
          <a:prstGeom prst="rect">
            <a:avLst/>
          </a:prstGeom>
          <a:ln w="12700">
            <a:miter lim="400000"/>
          </a:ln>
        </p:spPr>
      </p:pic>
      <p:sp>
        <p:nvSpPr>
          <p:cNvPr id="86" name="Text 15"/>
          <p:cNvSpPr txBox="1"/>
          <p:nvPr/>
        </p:nvSpPr>
        <p:spPr>
          <a:xfrm>
            <a:off x="502919" y="6563106"/>
            <a:ext cx="2651762"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6B7280"/>
                </a:solidFill>
                <a:latin typeface="Courier New"/>
                <a:ea typeface="Courier New"/>
                <a:cs typeface="Courier New"/>
                <a:sym typeface="Courier New"/>
              </a:defRPr>
            </a:lvl1pPr>
          </a:lstStyle>
          <a:p>
            <a:pPr/>
            <a:r>
              <a:t>CODECANVAS</a:t>
            </a:r>
          </a:p>
        </p:txBody>
      </p:sp>
      <p:sp>
        <p:nvSpPr>
          <p:cNvPr id="87" name="Text 16"/>
          <p:cNvSpPr txBox="1"/>
          <p:nvPr/>
        </p:nvSpPr>
        <p:spPr>
          <a:xfrm>
            <a:off x="11384279" y="6563106"/>
            <a:ext cx="365761"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6B7280"/>
                </a:solidFill>
                <a:latin typeface="Courier New"/>
                <a:ea typeface="Courier New"/>
                <a:cs typeface="Courier New"/>
                <a:sym typeface="Courier New"/>
              </a:defRPr>
            </a:lvl1pPr>
          </a:lstStyle>
          <a:p>
            <a:pPr/>
            <a:r>
              <a:t>03</a:t>
            </a:r>
          </a:p>
        </p:txBody>
      </p:sp>
      <p:pic>
        <p:nvPicPr>
          <p:cNvPr id="88" name="codecanvas_icon_dark_256.png" descr="codecanvas_icon_dark_256.png"/>
          <p:cNvPicPr>
            <a:picLocks noChangeAspect="1"/>
          </p:cNvPicPr>
          <p:nvPr/>
        </p:nvPicPr>
        <p:blipFill>
          <a:blip r:embed="rId4">
            <a:extLst/>
          </a:blip>
          <a:stretch>
            <a:fillRect/>
          </a:stretch>
        </p:blipFill>
        <p:spPr>
          <a:xfrm>
            <a:off x="11088582" y="161503"/>
            <a:ext cx="957154" cy="957154"/>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92" name="Text 0"/>
          <p:cNvSpPr txBox="1"/>
          <p:nvPr/>
        </p:nvSpPr>
        <p:spPr>
          <a:xfrm>
            <a:off x="6217920" y="518159"/>
            <a:ext cx="7223760"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50" sz="1100">
                <a:solidFill>
                  <a:srgbClr val="3B82F6"/>
                </a:solidFill>
                <a:latin typeface="Courier New"/>
                <a:ea typeface="Courier New"/>
                <a:cs typeface="Courier New"/>
                <a:sym typeface="Courier New"/>
              </a:defRPr>
            </a:lvl1pPr>
          </a:lstStyle>
          <a:p>
            <a:pPr/>
            <a:r>
              <a:t>AI TUTOR COMPANION</a:t>
            </a:r>
          </a:p>
        </p:txBody>
      </p:sp>
      <p:sp>
        <p:nvSpPr>
          <p:cNvPr id="93" name="Text 1"/>
          <p:cNvSpPr txBox="1"/>
          <p:nvPr/>
        </p:nvSpPr>
        <p:spPr>
          <a:xfrm>
            <a:off x="6217920" y="966341"/>
            <a:ext cx="5394960" cy="44475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800">
                <a:solidFill>
                  <a:srgbClr val="F5F6F8"/>
                </a:solidFill>
              </a:defRPr>
            </a:lvl1pPr>
          </a:lstStyle>
          <a:p>
            <a:pPr/>
            <a:r>
              <a:t>Never Debug Alone Again</a:t>
            </a:r>
          </a:p>
        </p:txBody>
      </p:sp>
      <p:sp>
        <p:nvSpPr>
          <p:cNvPr id="94" name="Shape 2"/>
          <p:cNvSpPr/>
          <p:nvPr/>
        </p:nvSpPr>
        <p:spPr>
          <a:xfrm>
            <a:off x="6172200" y="2020823"/>
            <a:ext cx="118873" cy="118873"/>
          </a:xfrm>
          <a:prstGeom prst="ellipse">
            <a:avLst/>
          </a:prstGeom>
          <a:solidFill>
            <a:srgbClr val="3B82F6"/>
          </a:solidFill>
          <a:ln w="12700">
            <a:miter lim="400000"/>
          </a:ln>
        </p:spPr>
        <p:txBody>
          <a:bodyPr lIns="45719" rIns="45719"/>
          <a:lstStyle/>
          <a:p>
            <a:pPr/>
          </a:p>
        </p:txBody>
      </p:sp>
      <p:sp>
        <p:nvSpPr>
          <p:cNvPr id="95" name="Text 3"/>
          <p:cNvSpPr txBox="1"/>
          <p:nvPr/>
        </p:nvSpPr>
        <p:spPr>
          <a:xfrm>
            <a:off x="6473952" y="1890969"/>
            <a:ext cx="5047489"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Ask Anything, Anytime</a:t>
            </a:r>
          </a:p>
        </p:txBody>
      </p:sp>
      <p:sp>
        <p:nvSpPr>
          <p:cNvPr id="96" name="Text 4"/>
          <p:cNvSpPr txBox="1"/>
          <p:nvPr/>
        </p:nvSpPr>
        <p:spPr>
          <a:xfrm>
            <a:off x="6473952" y="2447465"/>
            <a:ext cx="5047489"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No lab hours required — get real guidance at 2am, the night before a deadline.</a:t>
            </a:r>
          </a:p>
        </p:txBody>
      </p:sp>
      <p:sp>
        <p:nvSpPr>
          <p:cNvPr id="97" name="Shape 5"/>
          <p:cNvSpPr/>
          <p:nvPr/>
        </p:nvSpPr>
        <p:spPr>
          <a:xfrm>
            <a:off x="6172200" y="3072383"/>
            <a:ext cx="118873" cy="118873"/>
          </a:xfrm>
          <a:prstGeom prst="ellipse">
            <a:avLst/>
          </a:prstGeom>
          <a:solidFill>
            <a:srgbClr val="3B82F6"/>
          </a:solidFill>
          <a:ln w="12700">
            <a:miter lim="400000"/>
          </a:ln>
        </p:spPr>
        <p:txBody>
          <a:bodyPr lIns="45719" rIns="45719"/>
          <a:lstStyle/>
          <a:p>
            <a:pPr/>
          </a:p>
        </p:txBody>
      </p:sp>
      <p:sp>
        <p:nvSpPr>
          <p:cNvPr id="98" name="Text 6"/>
          <p:cNvSpPr txBox="1"/>
          <p:nvPr/>
        </p:nvSpPr>
        <p:spPr>
          <a:xfrm>
            <a:off x="6473952" y="2942529"/>
            <a:ext cx="5047489" cy="27799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Context-Aware Hints</a:t>
            </a:r>
          </a:p>
        </p:txBody>
      </p:sp>
      <p:sp>
        <p:nvSpPr>
          <p:cNvPr id="99" name="Text 7"/>
          <p:cNvSpPr txBox="1"/>
          <p:nvPr/>
        </p:nvSpPr>
        <p:spPr>
          <a:xfrm>
            <a:off x="6473952" y="3499026"/>
            <a:ext cx="5047489"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The tutor sees your exact code and the current execution step — not a generic FAQ.</a:t>
            </a:r>
          </a:p>
        </p:txBody>
      </p:sp>
      <p:sp>
        <p:nvSpPr>
          <p:cNvPr id="100" name="Shape 8"/>
          <p:cNvSpPr/>
          <p:nvPr/>
        </p:nvSpPr>
        <p:spPr>
          <a:xfrm>
            <a:off x="6172200" y="4123944"/>
            <a:ext cx="118873" cy="118873"/>
          </a:xfrm>
          <a:prstGeom prst="ellipse">
            <a:avLst/>
          </a:prstGeom>
          <a:solidFill>
            <a:srgbClr val="3B82F6"/>
          </a:solidFill>
          <a:ln w="12700">
            <a:miter lim="400000"/>
          </a:ln>
        </p:spPr>
        <p:txBody>
          <a:bodyPr lIns="45719" rIns="45719"/>
          <a:lstStyle/>
          <a:p>
            <a:pPr/>
          </a:p>
        </p:txBody>
      </p:sp>
      <p:sp>
        <p:nvSpPr>
          <p:cNvPr id="101" name="Text 9"/>
          <p:cNvSpPr txBox="1"/>
          <p:nvPr/>
        </p:nvSpPr>
        <p:spPr>
          <a:xfrm>
            <a:off x="6473952" y="3994090"/>
            <a:ext cx="5047489"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Guides, Doesn’t Solve</a:t>
            </a:r>
          </a:p>
        </p:txBody>
      </p:sp>
      <p:sp>
        <p:nvSpPr>
          <p:cNvPr id="102" name="Text 10"/>
          <p:cNvSpPr txBox="1"/>
          <p:nvPr/>
        </p:nvSpPr>
        <p:spPr>
          <a:xfrm>
            <a:off x="6473952" y="4550585"/>
            <a:ext cx="5047489"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Nudges you toward the fix so the understanding actually sticks.</a:t>
            </a:r>
          </a:p>
        </p:txBody>
      </p:sp>
      <p:sp>
        <p:nvSpPr>
          <p:cNvPr id="103" name="Shape 11"/>
          <p:cNvSpPr/>
          <p:nvPr/>
        </p:nvSpPr>
        <p:spPr>
          <a:xfrm>
            <a:off x="438912" y="1307591"/>
            <a:ext cx="5340097" cy="2681304"/>
          </a:xfrm>
          <a:prstGeom prst="roundRect">
            <a:avLst>
              <a:gd name="adj" fmla="val 3069"/>
            </a:avLst>
          </a:prstGeom>
          <a:solidFill>
            <a:srgbClr val="13151C"/>
          </a:solidFill>
          <a:ln w="12700">
            <a:solidFill>
              <a:srgbClr val="23262F"/>
            </a:solidFill>
          </a:ln>
          <a:effectLst>
            <a:outerShdw sx="100000" sy="100000" kx="0" ky="0" algn="b" rotWithShape="0" blurRad="228600" dist="76200" dir="5400000">
              <a:srgbClr val="000000">
                <a:alpha val="55000"/>
              </a:srgbClr>
            </a:outerShdw>
          </a:effectLst>
        </p:spPr>
        <p:txBody>
          <a:bodyPr lIns="45719" rIns="45719"/>
          <a:lstStyle/>
          <a:p>
            <a:pPr/>
          </a:p>
        </p:txBody>
      </p:sp>
      <p:pic>
        <p:nvPicPr>
          <p:cNvPr id="104" name="Image 0" descr="Image 0"/>
          <p:cNvPicPr>
            <a:picLocks noChangeAspect="1"/>
          </p:cNvPicPr>
          <p:nvPr/>
        </p:nvPicPr>
        <p:blipFill>
          <a:blip r:embed="rId3">
            <a:extLst/>
          </a:blip>
          <a:stretch>
            <a:fillRect/>
          </a:stretch>
        </p:blipFill>
        <p:spPr>
          <a:xfrm>
            <a:off x="548640" y="1417319"/>
            <a:ext cx="5120641" cy="2461848"/>
          </a:xfrm>
          <a:prstGeom prst="rect">
            <a:avLst/>
          </a:prstGeom>
          <a:ln w="12700">
            <a:miter lim="400000"/>
          </a:ln>
        </p:spPr>
      </p:pic>
      <p:sp>
        <p:nvSpPr>
          <p:cNvPr id="105" name="Text 12"/>
          <p:cNvSpPr txBox="1"/>
          <p:nvPr/>
        </p:nvSpPr>
        <p:spPr>
          <a:xfrm>
            <a:off x="502919" y="6563106"/>
            <a:ext cx="2651762"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6B7280"/>
                </a:solidFill>
                <a:latin typeface="Courier New"/>
                <a:ea typeface="Courier New"/>
                <a:cs typeface="Courier New"/>
                <a:sym typeface="Courier New"/>
              </a:defRPr>
            </a:lvl1pPr>
          </a:lstStyle>
          <a:p>
            <a:pPr/>
            <a:r>
              <a:t>CODECANVAS</a:t>
            </a:r>
          </a:p>
        </p:txBody>
      </p:sp>
      <p:sp>
        <p:nvSpPr>
          <p:cNvPr id="106" name="Text 13"/>
          <p:cNvSpPr txBox="1"/>
          <p:nvPr/>
        </p:nvSpPr>
        <p:spPr>
          <a:xfrm>
            <a:off x="11384279" y="6563106"/>
            <a:ext cx="365761"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6B7280"/>
                </a:solidFill>
                <a:latin typeface="Courier New"/>
                <a:ea typeface="Courier New"/>
                <a:cs typeface="Courier New"/>
                <a:sym typeface="Courier New"/>
              </a:defRPr>
            </a:lvl1pPr>
          </a:lstStyle>
          <a:p>
            <a:pPr/>
            <a:r>
              <a:t>04</a:t>
            </a:r>
          </a:p>
        </p:txBody>
      </p:sp>
      <p:pic>
        <p:nvPicPr>
          <p:cNvPr id="107" name="codecanvas_icon_dark_256.png" descr="codecanvas_icon_dark_256.png"/>
          <p:cNvPicPr>
            <a:picLocks noChangeAspect="1"/>
          </p:cNvPicPr>
          <p:nvPr/>
        </p:nvPicPr>
        <p:blipFill>
          <a:blip r:embed="rId4">
            <a:extLst/>
          </a:blip>
          <a:stretch>
            <a:fillRect/>
          </a:stretch>
        </p:blipFill>
        <p:spPr>
          <a:xfrm>
            <a:off x="11088582" y="161503"/>
            <a:ext cx="957154" cy="957154"/>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111" name="Text 0"/>
          <p:cNvSpPr txBox="1"/>
          <p:nvPr/>
        </p:nvSpPr>
        <p:spPr>
          <a:xfrm>
            <a:off x="594359" y="472439"/>
            <a:ext cx="7223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50" sz="1100">
                <a:solidFill>
                  <a:srgbClr val="F59E0B"/>
                </a:solidFill>
                <a:latin typeface="Courier New"/>
                <a:ea typeface="Courier New"/>
                <a:cs typeface="Courier New"/>
                <a:sym typeface="Courier New"/>
              </a:defRPr>
            </a:lvl1pPr>
          </a:lstStyle>
          <a:p>
            <a:pPr/>
            <a:r>
              <a:t>WHAT'S IN IT FOR YOU</a:t>
            </a:r>
          </a:p>
        </p:txBody>
      </p:sp>
      <p:sp>
        <p:nvSpPr>
          <p:cNvPr id="112" name="Text 1"/>
          <p:cNvSpPr txBox="1"/>
          <p:nvPr/>
        </p:nvSpPr>
        <p:spPr>
          <a:xfrm>
            <a:off x="594359" y="806583"/>
            <a:ext cx="8138161" cy="48995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F5F6F8"/>
                </a:solidFill>
              </a:defRPr>
            </a:lvl1pPr>
          </a:lstStyle>
          <a:p>
            <a:pPr/>
            <a:r>
              <a:t>Stay Motivated, Stay Consistent</a:t>
            </a:r>
          </a:p>
        </p:txBody>
      </p:sp>
      <p:sp>
        <p:nvSpPr>
          <p:cNvPr id="113" name="Shape 2"/>
          <p:cNvSpPr/>
          <p:nvPr/>
        </p:nvSpPr>
        <p:spPr>
          <a:xfrm>
            <a:off x="438912" y="1490472"/>
            <a:ext cx="6757417" cy="3362706"/>
          </a:xfrm>
          <a:prstGeom prst="roundRect">
            <a:avLst>
              <a:gd name="adj" fmla="val 2447"/>
            </a:avLst>
          </a:prstGeom>
          <a:solidFill>
            <a:srgbClr val="13151C"/>
          </a:solidFill>
          <a:ln w="12700">
            <a:solidFill>
              <a:srgbClr val="23262F"/>
            </a:solidFill>
          </a:ln>
          <a:effectLst>
            <a:outerShdw sx="100000" sy="100000" kx="0" ky="0" algn="b" rotWithShape="0" blurRad="228600" dist="76200" dir="5400000">
              <a:srgbClr val="000000">
                <a:alpha val="55000"/>
              </a:srgbClr>
            </a:outerShdw>
          </a:effectLst>
        </p:spPr>
        <p:txBody>
          <a:bodyPr lIns="45719" rIns="45719"/>
          <a:lstStyle/>
          <a:p>
            <a:pPr/>
          </a:p>
        </p:txBody>
      </p:sp>
      <p:pic>
        <p:nvPicPr>
          <p:cNvPr id="114" name="Image 0" descr="Image 0"/>
          <p:cNvPicPr>
            <a:picLocks noChangeAspect="1"/>
          </p:cNvPicPr>
          <p:nvPr/>
        </p:nvPicPr>
        <p:blipFill>
          <a:blip r:embed="rId3">
            <a:extLst/>
          </a:blip>
          <a:stretch>
            <a:fillRect/>
          </a:stretch>
        </p:blipFill>
        <p:spPr>
          <a:xfrm>
            <a:off x="548640" y="1600200"/>
            <a:ext cx="6537960" cy="3143250"/>
          </a:xfrm>
          <a:prstGeom prst="rect">
            <a:avLst/>
          </a:prstGeom>
          <a:ln w="12700">
            <a:miter lim="400000"/>
          </a:ln>
        </p:spPr>
      </p:pic>
      <p:sp>
        <p:nvSpPr>
          <p:cNvPr id="115" name="Text 3"/>
          <p:cNvSpPr txBox="1"/>
          <p:nvPr/>
        </p:nvSpPr>
        <p:spPr>
          <a:xfrm>
            <a:off x="7680959" y="1766704"/>
            <a:ext cx="3931920" cy="48995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F59E0B"/>
                </a:solidFill>
              </a:defRPr>
            </a:lvl1pPr>
          </a:lstStyle>
          <a:p>
            <a:pPr/>
            <a:r>
              <a:t>13</a:t>
            </a:r>
          </a:p>
        </p:txBody>
      </p:sp>
      <p:sp>
        <p:nvSpPr>
          <p:cNvPr id="116" name="Text 4"/>
          <p:cNvSpPr txBox="1"/>
          <p:nvPr/>
        </p:nvSpPr>
        <p:spPr>
          <a:xfrm>
            <a:off x="7680959" y="2268219"/>
            <a:ext cx="393192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900">
                <a:solidFill>
                  <a:srgbClr val="9AA0AC"/>
                </a:solidFill>
                <a:latin typeface="Courier New"/>
                <a:ea typeface="Courier New"/>
                <a:cs typeface="Courier New"/>
                <a:sym typeface="Courier New"/>
              </a:defRPr>
            </a:lvl1pPr>
          </a:lstStyle>
          <a:p>
            <a:pPr/>
            <a:r>
              <a:t>TRACES RUN THIS WEEK</a:t>
            </a:r>
          </a:p>
        </p:txBody>
      </p:sp>
      <p:sp>
        <p:nvSpPr>
          <p:cNvPr id="117" name="Text 5"/>
          <p:cNvSpPr txBox="1"/>
          <p:nvPr/>
        </p:nvSpPr>
        <p:spPr>
          <a:xfrm>
            <a:off x="7680959" y="2726823"/>
            <a:ext cx="3931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F59E0B"/>
                </a:solidFill>
              </a:defRPr>
            </a:lvl1pPr>
          </a:lstStyle>
          <a:p>
            <a:pPr/>
            <a:r>
              <a:t>12-Day</a:t>
            </a:r>
          </a:p>
        </p:txBody>
      </p:sp>
      <p:sp>
        <p:nvSpPr>
          <p:cNvPr id="118" name="Text 6"/>
          <p:cNvSpPr txBox="1"/>
          <p:nvPr/>
        </p:nvSpPr>
        <p:spPr>
          <a:xfrm>
            <a:off x="7680959" y="3228339"/>
            <a:ext cx="393192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900">
                <a:solidFill>
                  <a:srgbClr val="9AA0AC"/>
                </a:solidFill>
                <a:latin typeface="Courier New"/>
                <a:ea typeface="Courier New"/>
                <a:cs typeface="Courier New"/>
                <a:sym typeface="Courier New"/>
              </a:defRPr>
            </a:lvl1pPr>
          </a:lstStyle>
          <a:p>
            <a:pPr/>
            <a:r>
              <a:t>ACTIVE CODING STREAK</a:t>
            </a:r>
          </a:p>
        </p:txBody>
      </p:sp>
      <p:sp>
        <p:nvSpPr>
          <p:cNvPr id="119" name="Text 7"/>
          <p:cNvSpPr txBox="1"/>
          <p:nvPr/>
        </p:nvSpPr>
        <p:spPr>
          <a:xfrm>
            <a:off x="7680959" y="3686944"/>
            <a:ext cx="3931920" cy="48995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F59E0B"/>
                </a:solidFill>
              </a:defRPr>
            </a:lvl1pPr>
          </a:lstStyle>
          <a:p>
            <a:pPr/>
            <a:r>
              <a:t>1,250 XP</a:t>
            </a:r>
          </a:p>
        </p:txBody>
      </p:sp>
      <p:sp>
        <p:nvSpPr>
          <p:cNvPr id="120" name="Text 8"/>
          <p:cNvSpPr txBox="1"/>
          <p:nvPr/>
        </p:nvSpPr>
        <p:spPr>
          <a:xfrm>
            <a:off x="7680959" y="4188459"/>
            <a:ext cx="393192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900">
                <a:solidFill>
                  <a:srgbClr val="9AA0AC"/>
                </a:solidFill>
                <a:latin typeface="Courier New"/>
                <a:ea typeface="Courier New"/>
                <a:cs typeface="Courier New"/>
                <a:sym typeface="Courier New"/>
              </a:defRPr>
            </a:lvl1pPr>
          </a:lstStyle>
          <a:p>
            <a:pPr/>
            <a:r>
              <a:t>‘ALGORITHM MASTER’ RANK</a:t>
            </a:r>
          </a:p>
        </p:txBody>
      </p:sp>
      <p:sp>
        <p:nvSpPr>
          <p:cNvPr id="121" name="Shape 9"/>
          <p:cNvSpPr/>
          <p:nvPr/>
        </p:nvSpPr>
        <p:spPr>
          <a:xfrm>
            <a:off x="7635240" y="4617720"/>
            <a:ext cx="4023360" cy="1"/>
          </a:xfrm>
          <a:prstGeom prst="line">
            <a:avLst/>
          </a:prstGeom>
          <a:ln w="12700">
            <a:solidFill>
              <a:srgbClr val="23262F"/>
            </a:solidFill>
          </a:ln>
        </p:spPr>
        <p:txBody>
          <a:bodyPr lIns="45719" rIns="45719"/>
          <a:lstStyle/>
          <a:p>
            <a:pPr/>
          </a:p>
        </p:txBody>
      </p:sp>
      <p:sp>
        <p:nvSpPr>
          <p:cNvPr id="122" name="Text 10"/>
          <p:cNvSpPr txBox="1"/>
          <p:nvPr/>
        </p:nvSpPr>
        <p:spPr>
          <a:xfrm>
            <a:off x="7680959" y="4973069"/>
            <a:ext cx="3931920" cy="47802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5000"/>
              </a:lnSpc>
              <a:defRPr sz="1200">
                <a:solidFill>
                  <a:srgbClr val="9AA0AC"/>
                </a:solidFill>
              </a:defRPr>
            </a:lvl1pPr>
          </a:lstStyle>
          <a:p>
            <a:pPr/>
            <a:r>
              <a:t>Verified, cryptographically-signed certificates — shareable straight to LinkedIn.</a:t>
            </a:r>
          </a:p>
        </p:txBody>
      </p:sp>
      <p:sp>
        <p:nvSpPr>
          <p:cNvPr id="123" name="Text 11"/>
          <p:cNvSpPr txBox="1"/>
          <p:nvPr/>
        </p:nvSpPr>
        <p:spPr>
          <a:xfrm>
            <a:off x="7680959" y="5704589"/>
            <a:ext cx="3931920" cy="47802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5000"/>
              </a:lnSpc>
              <a:defRPr sz="1200">
                <a:solidFill>
                  <a:srgbClr val="9AA0AC"/>
                </a:solidFill>
              </a:defRPr>
            </a:lvl1pPr>
          </a:lstStyle>
          <a:p>
            <a:pPr/>
            <a:r>
              <a:t>Pre-loaded with 20+ examples mapped to CSE101, INT101, CSE205 &amp; INT301.</a:t>
            </a:r>
          </a:p>
        </p:txBody>
      </p:sp>
      <p:sp>
        <p:nvSpPr>
          <p:cNvPr id="124" name="Text 12"/>
          <p:cNvSpPr txBox="1"/>
          <p:nvPr/>
        </p:nvSpPr>
        <p:spPr>
          <a:xfrm>
            <a:off x="502919" y="6563106"/>
            <a:ext cx="2651762"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6B7280"/>
                </a:solidFill>
                <a:latin typeface="Courier New"/>
                <a:ea typeface="Courier New"/>
                <a:cs typeface="Courier New"/>
                <a:sym typeface="Courier New"/>
              </a:defRPr>
            </a:lvl1pPr>
          </a:lstStyle>
          <a:p>
            <a:pPr/>
            <a:r>
              <a:t>CODECANVAS</a:t>
            </a:r>
          </a:p>
        </p:txBody>
      </p:sp>
      <p:sp>
        <p:nvSpPr>
          <p:cNvPr id="125" name="Text 13"/>
          <p:cNvSpPr txBox="1"/>
          <p:nvPr/>
        </p:nvSpPr>
        <p:spPr>
          <a:xfrm>
            <a:off x="11384279" y="6563106"/>
            <a:ext cx="365761"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6B7280"/>
                </a:solidFill>
                <a:latin typeface="Courier New"/>
                <a:ea typeface="Courier New"/>
                <a:cs typeface="Courier New"/>
                <a:sym typeface="Courier New"/>
              </a:defRPr>
            </a:lvl1pPr>
          </a:lstStyle>
          <a:p>
            <a:pPr/>
            <a:r>
              <a:t>05</a:t>
            </a:r>
          </a:p>
        </p:txBody>
      </p:sp>
      <p:pic>
        <p:nvPicPr>
          <p:cNvPr id="126" name="codecanvas_icon_dark_256.png" descr="codecanvas_icon_dark_256.png"/>
          <p:cNvPicPr>
            <a:picLocks noChangeAspect="1"/>
          </p:cNvPicPr>
          <p:nvPr/>
        </p:nvPicPr>
        <p:blipFill>
          <a:blip r:embed="rId4">
            <a:extLst/>
          </a:blip>
          <a:stretch>
            <a:fillRect/>
          </a:stretch>
        </p:blipFill>
        <p:spPr>
          <a:xfrm>
            <a:off x="11088582" y="161503"/>
            <a:ext cx="957154" cy="957154"/>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130" name="Text 0"/>
          <p:cNvSpPr txBox="1"/>
          <p:nvPr/>
        </p:nvSpPr>
        <p:spPr>
          <a:xfrm>
            <a:off x="6309360" y="518159"/>
            <a:ext cx="7223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50" sz="1100">
                <a:solidFill>
                  <a:srgbClr val="F59E0B"/>
                </a:solidFill>
                <a:latin typeface="Courier New"/>
                <a:ea typeface="Courier New"/>
                <a:cs typeface="Courier New"/>
                <a:sym typeface="Courier New"/>
              </a:defRPr>
            </a:lvl1pPr>
          </a:lstStyle>
          <a:p>
            <a:pPr/>
            <a:r>
              <a:t>BATTLEGROUND ARENA</a:t>
            </a:r>
          </a:p>
        </p:txBody>
      </p:sp>
      <p:sp>
        <p:nvSpPr>
          <p:cNvPr id="131" name="Text 1"/>
          <p:cNvSpPr txBox="1"/>
          <p:nvPr/>
        </p:nvSpPr>
        <p:spPr>
          <a:xfrm>
            <a:off x="6309359" y="971289"/>
            <a:ext cx="5303521" cy="43486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700">
                <a:solidFill>
                  <a:srgbClr val="F5F6F8"/>
                </a:solidFill>
              </a:defRPr>
            </a:lvl1pPr>
          </a:lstStyle>
          <a:p>
            <a:pPr/>
            <a:r>
              <a:t>Turn Practice Into Competition</a:t>
            </a:r>
          </a:p>
        </p:txBody>
      </p:sp>
      <p:sp>
        <p:nvSpPr>
          <p:cNvPr id="132" name="Text 2"/>
          <p:cNvSpPr txBox="1"/>
          <p:nvPr/>
        </p:nvSpPr>
        <p:spPr>
          <a:xfrm>
            <a:off x="6309359" y="1476047"/>
            <a:ext cx="5303521"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200">
                <a:solidFill>
                  <a:srgbClr val="F59E0B"/>
                </a:solidFill>
              </a:defRPr>
            </a:lvl1pPr>
          </a:lstStyle>
          <a:p>
            <a:pPr/>
            <a:r>
              <a:t>Kahoot meets LeetCode — live, on the classroom projector.</a:t>
            </a:r>
          </a:p>
        </p:txBody>
      </p:sp>
      <p:sp>
        <p:nvSpPr>
          <p:cNvPr id="133" name="Shape 3"/>
          <p:cNvSpPr/>
          <p:nvPr/>
        </p:nvSpPr>
        <p:spPr>
          <a:xfrm>
            <a:off x="6263640" y="2203704"/>
            <a:ext cx="118873" cy="118873"/>
          </a:xfrm>
          <a:prstGeom prst="ellipse">
            <a:avLst/>
          </a:prstGeom>
          <a:solidFill>
            <a:srgbClr val="F59E0B"/>
          </a:solidFill>
          <a:ln w="12700">
            <a:miter lim="400000"/>
          </a:ln>
        </p:spPr>
        <p:txBody>
          <a:bodyPr lIns="45719" rIns="45719"/>
          <a:lstStyle/>
          <a:p>
            <a:pPr/>
          </a:p>
        </p:txBody>
      </p:sp>
      <p:sp>
        <p:nvSpPr>
          <p:cNvPr id="134" name="Text 4"/>
          <p:cNvSpPr txBox="1"/>
          <p:nvPr/>
        </p:nvSpPr>
        <p:spPr>
          <a:xfrm>
            <a:off x="6565391" y="2073850"/>
            <a:ext cx="5001769"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Live Classroom Battles</a:t>
            </a:r>
          </a:p>
        </p:txBody>
      </p:sp>
      <p:sp>
        <p:nvSpPr>
          <p:cNvPr id="135" name="Text 5"/>
          <p:cNvSpPr txBox="1"/>
          <p:nvPr/>
        </p:nvSpPr>
        <p:spPr>
          <a:xfrm>
            <a:off x="6565391" y="2630346"/>
            <a:ext cx="5001769"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Faculty host 5-minute algorithm duels, projected for the whole room to follow.</a:t>
            </a:r>
          </a:p>
        </p:txBody>
      </p:sp>
      <p:sp>
        <p:nvSpPr>
          <p:cNvPr id="136" name="Shape 6"/>
          <p:cNvSpPr/>
          <p:nvPr/>
        </p:nvSpPr>
        <p:spPr>
          <a:xfrm>
            <a:off x="6263640" y="3255264"/>
            <a:ext cx="118873" cy="118873"/>
          </a:xfrm>
          <a:prstGeom prst="ellipse">
            <a:avLst/>
          </a:prstGeom>
          <a:solidFill>
            <a:srgbClr val="F59E0B"/>
          </a:solidFill>
          <a:ln w="12700">
            <a:miter lim="400000"/>
          </a:ln>
        </p:spPr>
        <p:txBody>
          <a:bodyPr lIns="45719" rIns="45719"/>
          <a:lstStyle/>
          <a:p>
            <a:pPr/>
          </a:p>
        </p:txBody>
      </p:sp>
      <p:sp>
        <p:nvSpPr>
          <p:cNvPr id="137" name="Text 7"/>
          <p:cNvSpPr txBox="1"/>
          <p:nvPr/>
        </p:nvSpPr>
        <p:spPr>
          <a:xfrm>
            <a:off x="6565391" y="3125410"/>
            <a:ext cx="5001769"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Real Bugs, Real Pressure</a:t>
            </a:r>
          </a:p>
        </p:txBody>
      </p:sp>
      <p:sp>
        <p:nvSpPr>
          <p:cNvPr id="138" name="Text 8"/>
          <p:cNvSpPr txBox="1"/>
          <p:nvPr/>
        </p:nvSpPr>
        <p:spPr>
          <a:xfrm>
            <a:off x="6565391" y="3681905"/>
            <a:ext cx="5001769"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Fix a broken QuickSort partition or a Big-O trap while the clock is running.</a:t>
            </a:r>
          </a:p>
        </p:txBody>
      </p:sp>
      <p:sp>
        <p:nvSpPr>
          <p:cNvPr id="139" name="Shape 9"/>
          <p:cNvSpPr/>
          <p:nvPr/>
        </p:nvSpPr>
        <p:spPr>
          <a:xfrm>
            <a:off x="6263640" y="4306823"/>
            <a:ext cx="118873" cy="118873"/>
          </a:xfrm>
          <a:prstGeom prst="ellipse">
            <a:avLst/>
          </a:prstGeom>
          <a:solidFill>
            <a:srgbClr val="F59E0B"/>
          </a:solidFill>
          <a:ln w="12700">
            <a:miter lim="400000"/>
          </a:ln>
        </p:spPr>
        <p:txBody>
          <a:bodyPr lIns="45719" rIns="45719"/>
          <a:lstStyle/>
          <a:p>
            <a:pPr/>
          </a:p>
        </p:txBody>
      </p:sp>
      <p:sp>
        <p:nvSpPr>
          <p:cNvPr id="140" name="Text 10"/>
          <p:cNvSpPr txBox="1"/>
          <p:nvPr/>
        </p:nvSpPr>
        <p:spPr>
          <a:xfrm>
            <a:off x="6565391" y="4176969"/>
            <a:ext cx="5001769"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University ELO Ladder</a:t>
            </a:r>
          </a:p>
        </p:txBody>
      </p:sp>
      <p:sp>
        <p:nvSpPr>
          <p:cNvPr id="141" name="Text 11"/>
          <p:cNvSpPr txBox="1"/>
          <p:nvPr/>
        </p:nvSpPr>
        <p:spPr>
          <a:xfrm>
            <a:off x="6565391" y="4733466"/>
            <a:ext cx="5001769" cy="2257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17999"/>
              </a:lnSpc>
              <a:defRPr sz="1100">
                <a:solidFill>
                  <a:srgbClr val="9AA0AC"/>
                </a:solidFill>
              </a:defRPr>
            </a:lvl1pPr>
          </a:lstStyle>
          <a:p>
            <a:pPr/>
            <a:r>
              <a:t>Climb the rankings and earn recruiter-visible, verified badges.</a:t>
            </a:r>
          </a:p>
        </p:txBody>
      </p:sp>
      <p:sp>
        <p:nvSpPr>
          <p:cNvPr id="142" name="Shape 12"/>
          <p:cNvSpPr/>
          <p:nvPr/>
        </p:nvSpPr>
        <p:spPr>
          <a:xfrm>
            <a:off x="438912" y="1307591"/>
            <a:ext cx="5568697" cy="2791207"/>
          </a:xfrm>
          <a:prstGeom prst="roundRect">
            <a:avLst>
              <a:gd name="adj" fmla="val 2948"/>
            </a:avLst>
          </a:prstGeom>
          <a:solidFill>
            <a:srgbClr val="13151C"/>
          </a:solidFill>
          <a:ln w="12700">
            <a:solidFill>
              <a:srgbClr val="23262F"/>
            </a:solidFill>
          </a:ln>
          <a:effectLst>
            <a:outerShdw sx="100000" sy="100000" kx="0" ky="0" algn="b" rotWithShape="0" blurRad="228600" dist="76200" dir="5400000">
              <a:srgbClr val="000000">
                <a:alpha val="55000"/>
              </a:srgbClr>
            </a:outerShdw>
          </a:effectLst>
        </p:spPr>
        <p:txBody>
          <a:bodyPr lIns="45719" rIns="45719"/>
          <a:lstStyle/>
          <a:p>
            <a:pPr/>
          </a:p>
        </p:txBody>
      </p:sp>
      <p:pic>
        <p:nvPicPr>
          <p:cNvPr id="143" name="Image 0" descr="Image 0"/>
          <p:cNvPicPr>
            <a:picLocks noChangeAspect="1"/>
          </p:cNvPicPr>
          <p:nvPr/>
        </p:nvPicPr>
        <p:blipFill>
          <a:blip r:embed="rId3">
            <a:extLst/>
          </a:blip>
          <a:stretch>
            <a:fillRect/>
          </a:stretch>
        </p:blipFill>
        <p:spPr>
          <a:xfrm>
            <a:off x="548640" y="1417319"/>
            <a:ext cx="5349241" cy="2571751"/>
          </a:xfrm>
          <a:prstGeom prst="rect">
            <a:avLst/>
          </a:prstGeom>
          <a:ln w="12700">
            <a:miter lim="400000"/>
          </a:ln>
        </p:spPr>
      </p:pic>
      <p:sp>
        <p:nvSpPr>
          <p:cNvPr id="144" name="Text 13"/>
          <p:cNvSpPr txBox="1"/>
          <p:nvPr/>
        </p:nvSpPr>
        <p:spPr>
          <a:xfrm>
            <a:off x="502919" y="6563106"/>
            <a:ext cx="2651762"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6B7280"/>
                </a:solidFill>
                <a:latin typeface="Courier New"/>
                <a:ea typeface="Courier New"/>
                <a:cs typeface="Courier New"/>
                <a:sym typeface="Courier New"/>
              </a:defRPr>
            </a:lvl1pPr>
          </a:lstStyle>
          <a:p>
            <a:pPr/>
            <a:r>
              <a:t>CODECANVAS</a:t>
            </a:r>
          </a:p>
        </p:txBody>
      </p:sp>
      <p:sp>
        <p:nvSpPr>
          <p:cNvPr id="145" name="Text 14"/>
          <p:cNvSpPr txBox="1"/>
          <p:nvPr/>
        </p:nvSpPr>
        <p:spPr>
          <a:xfrm>
            <a:off x="11384279" y="6563106"/>
            <a:ext cx="365761"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6B7280"/>
                </a:solidFill>
                <a:latin typeface="Courier New"/>
                <a:ea typeface="Courier New"/>
                <a:cs typeface="Courier New"/>
                <a:sym typeface="Courier New"/>
              </a:defRPr>
            </a:lvl1pPr>
          </a:lstStyle>
          <a:p>
            <a:pPr/>
            <a:r>
              <a:t>06</a:t>
            </a:r>
          </a:p>
        </p:txBody>
      </p:sp>
      <p:pic>
        <p:nvPicPr>
          <p:cNvPr id="146" name="codecanvas_icon_dark_256.png" descr="codecanvas_icon_dark_256.png"/>
          <p:cNvPicPr>
            <a:picLocks noChangeAspect="1"/>
          </p:cNvPicPr>
          <p:nvPr/>
        </p:nvPicPr>
        <p:blipFill>
          <a:blip r:embed="rId4">
            <a:extLst/>
          </a:blip>
          <a:stretch>
            <a:fillRect/>
          </a:stretch>
        </p:blipFill>
        <p:spPr>
          <a:xfrm>
            <a:off x="11088582" y="161503"/>
            <a:ext cx="957154" cy="957154"/>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0D12"/>
        </a:solidFill>
      </p:bgPr>
    </p:bg>
    <p:spTree>
      <p:nvGrpSpPr>
        <p:cNvPr id="1" name=""/>
        <p:cNvGrpSpPr/>
        <p:nvPr/>
      </p:nvGrpSpPr>
      <p:grpSpPr>
        <a:xfrm>
          <a:off x="0" y="0"/>
          <a:ext cx="0" cy="0"/>
          <a:chOff x="0" y="0"/>
          <a:chExt cx="0" cy="0"/>
        </a:xfrm>
      </p:grpSpPr>
      <p:sp>
        <p:nvSpPr>
          <p:cNvPr id="150" name="Text 0"/>
          <p:cNvSpPr txBox="1"/>
          <p:nvPr/>
        </p:nvSpPr>
        <p:spPr>
          <a:xfrm>
            <a:off x="594359" y="563880"/>
            <a:ext cx="722376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150" sz="1100">
                <a:solidFill>
                  <a:srgbClr val="3B82F6"/>
                </a:solidFill>
                <a:latin typeface="Courier New"/>
                <a:ea typeface="Courier New"/>
                <a:cs typeface="Courier New"/>
                <a:sym typeface="Courier New"/>
              </a:defRPr>
            </a:lvl1pPr>
          </a:lstStyle>
          <a:p>
            <a:pPr/>
            <a:r>
              <a:t>LET'S GET YOU SET UP</a:t>
            </a:r>
          </a:p>
        </p:txBody>
      </p:sp>
      <p:sp>
        <p:nvSpPr>
          <p:cNvPr id="151" name="Text 1"/>
          <p:cNvSpPr txBox="1"/>
          <p:nvPr/>
        </p:nvSpPr>
        <p:spPr>
          <a:xfrm>
            <a:off x="594359" y="963319"/>
            <a:ext cx="9966961" cy="54224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400">
                <a:solidFill>
                  <a:srgbClr val="F5F6F8"/>
                </a:solidFill>
              </a:defRPr>
            </a:lvl1pPr>
          </a:lstStyle>
          <a:p>
            <a:pPr/>
            <a:r>
              <a:t>Get Registered in 30 Seconds</a:t>
            </a:r>
          </a:p>
        </p:txBody>
      </p:sp>
      <p:sp>
        <p:nvSpPr>
          <p:cNvPr id="152" name="Shape 2"/>
          <p:cNvSpPr/>
          <p:nvPr/>
        </p:nvSpPr>
        <p:spPr>
          <a:xfrm>
            <a:off x="548640" y="2148839"/>
            <a:ext cx="2697480" cy="2331722"/>
          </a:xfrm>
          <a:prstGeom prst="roundRect">
            <a:avLst>
              <a:gd name="adj" fmla="val 3529"/>
            </a:avLst>
          </a:prstGeom>
          <a:solidFill>
            <a:srgbClr val="13151C"/>
          </a:solidFill>
          <a:ln w="12700">
            <a:solidFill>
              <a:srgbClr val="23262F"/>
            </a:solidFill>
          </a:ln>
        </p:spPr>
        <p:txBody>
          <a:bodyPr lIns="45719" rIns="45719"/>
          <a:lstStyle/>
          <a:p>
            <a:pPr/>
          </a:p>
        </p:txBody>
      </p:sp>
      <p:sp>
        <p:nvSpPr>
          <p:cNvPr id="153" name="Text 3"/>
          <p:cNvSpPr txBox="1"/>
          <p:nvPr/>
        </p:nvSpPr>
        <p:spPr>
          <a:xfrm>
            <a:off x="822960" y="2414269"/>
            <a:ext cx="2148840"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000">
                <a:solidFill>
                  <a:srgbClr val="3B82F6"/>
                </a:solidFill>
                <a:latin typeface="Courier New"/>
                <a:ea typeface="Courier New"/>
                <a:cs typeface="Courier New"/>
                <a:sym typeface="Courier New"/>
              </a:defRPr>
            </a:lvl1pPr>
          </a:lstStyle>
          <a:p>
            <a:pPr/>
            <a:r>
              <a:t>01</a:t>
            </a:r>
          </a:p>
        </p:txBody>
      </p:sp>
      <p:sp>
        <p:nvSpPr>
          <p:cNvPr id="154" name="Text 4"/>
          <p:cNvSpPr txBox="1"/>
          <p:nvPr/>
        </p:nvSpPr>
        <p:spPr>
          <a:xfrm>
            <a:off x="822960" y="2969961"/>
            <a:ext cx="214884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Visit</a:t>
            </a:r>
          </a:p>
        </p:txBody>
      </p:sp>
      <p:sp>
        <p:nvSpPr>
          <p:cNvPr id="155" name="Text 5"/>
          <p:cNvSpPr txBox="1"/>
          <p:nvPr/>
        </p:nvSpPr>
        <p:spPr>
          <a:xfrm>
            <a:off x="822959" y="3706519"/>
            <a:ext cx="2148841" cy="22570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5000"/>
              </a:lnSpc>
              <a:defRPr sz="1100">
                <a:solidFill>
                  <a:srgbClr val="9AA0AC"/>
                </a:solidFill>
              </a:defRPr>
            </a:lvl1pPr>
          </a:lstStyle>
          <a:p>
            <a:pPr/>
            <a:r>
              <a:t>https://lpu-code-viz.vercel.app/</a:t>
            </a:r>
          </a:p>
        </p:txBody>
      </p:sp>
      <p:sp>
        <p:nvSpPr>
          <p:cNvPr id="156" name="Shape 6"/>
          <p:cNvSpPr/>
          <p:nvPr/>
        </p:nvSpPr>
        <p:spPr>
          <a:xfrm>
            <a:off x="3383279" y="2148839"/>
            <a:ext cx="2697481" cy="2331722"/>
          </a:xfrm>
          <a:prstGeom prst="roundRect">
            <a:avLst>
              <a:gd name="adj" fmla="val 3529"/>
            </a:avLst>
          </a:prstGeom>
          <a:solidFill>
            <a:srgbClr val="13151C"/>
          </a:solidFill>
          <a:ln w="12700">
            <a:solidFill>
              <a:srgbClr val="23262F"/>
            </a:solidFill>
          </a:ln>
        </p:spPr>
        <p:txBody>
          <a:bodyPr lIns="45719" rIns="45719"/>
          <a:lstStyle/>
          <a:p>
            <a:pPr/>
          </a:p>
        </p:txBody>
      </p:sp>
      <p:sp>
        <p:nvSpPr>
          <p:cNvPr id="157" name="Text 7"/>
          <p:cNvSpPr txBox="1"/>
          <p:nvPr/>
        </p:nvSpPr>
        <p:spPr>
          <a:xfrm>
            <a:off x="3657600" y="2414269"/>
            <a:ext cx="2148840"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000">
                <a:solidFill>
                  <a:srgbClr val="3B82F6"/>
                </a:solidFill>
                <a:latin typeface="Courier New"/>
                <a:ea typeface="Courier New"/>
                <a:cs typeface="Courier New"/>
                <a:sym typeface="Courier New"/>
              </a:defRPr>
            </a:lvl1pPr>
          </a:lstStyle>
          <a:p>
            <a:pPr/>
            <a:r>
              <a:t>02</a:t>
            </a:r>
          </a:p>
        </p:txBody>
      </p:sp>
      <p:sp>
        <p:nvSpPr>
          <p:cNvPr id="158" name="Text 8"/>
          <p:cNvSpPr txBox="1"/>
          <p:nvPr/>
        </p:nvSpPr>
        <p:spPr>
          <a:xfrm>
            <a:off x="3657600" y="2969961"/>
            <a:ext cx="214884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Register</a:t>
            </a:r>
          </a:p>
        </p:txBody>
      </p:sp>
      <p:sp>
        <p:nvSpPr>
          <p:cNvPr id="159" name="Text 9"/>
          <p:cNvSpPr txBox="1"/>
          <p:nvPr/>
        </p:nvSpPr>
        <p:spPr>
          <a:xfrm>
            <a:off x="3657600" y="3610004"/>
            <a:ext cx="2148840" cy="42437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5000"/>
              </a:lnSpc>
              <a:defRPr sz="1100">
                <a:solidFill>
                  <a:srgbClr val="9AA0AC"/>
                </a:solidFill>
              </a:defRPr>
            </a:lvl1pPr>
          </a:lstStyle>
          <a:p>
            <a:pPr/>
            <a:r>
              <a:t>One-click sign-up with Google OAuth or email</a:t>
            </a:r>
          </a:p>
        </p:txBody>
      </p:sp>
      <p:sp>
        <p:nvSpPr>
          <p:cNvPr id="160" name="Shape 10"/>
          <p:cNvSpPr/>
          <p:nvPr/>
        </p:nvSpPr>
        <p:spPr>
          <a:xfrm>
            <a:off x="6217920" y="2148839"/>
            <a:ext cx="2697480" cy="2331722"/>
          </a:xfrm>
          <a:prstGeom prst="roundRect">
            <a:avLst>
              <a:gd name="adj" fmla="val 3529"/>
            </a:avLst>
          </a:prstGeom>
          <a:solidFill>
            <a:srgbClr val="13151C"/>
          </a:solidFill>
          <a:ln w="12700">
            <a:solidFill>
              <a:srgbClr val="23262F"/>
            </a:solidFill>
          </a:ln>
        </p:spPr>
        <p:txBody>
          <a:bodyPr lIns="45719" rIns="45719"/>
          <a:lstStyle/>
          <a:p>
            <a:pPr/>
          </a:p>
        </p:txBody>
      </p:sp>
      <p:sp>
        <p:nvSpPr>
          <p:cNvPr id="161" name="Text 11"/>
          <p:cNvSpPr txBox="1"/>
          <p:nvPr/>
        </p:nvSpPr>
        <p:spPr>
          <a:xfrm>
            <a:off x="6492240" y="2414269"/>
            <a:ext cx="214884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000">
                <a:solidFill>
                  <a:srgbClr val="3B82F6"/>
                </a:solidFill>
                <a:latin typeface="Courier New"/>
                <a:ea typeface="Courier New"/>
                <a:cs typeface="Courier New"/>
                <a:sym typeface="Courier New"/>
              </a:defRPr>
            </a:lvl1pPr>
          </a:lstStyle>
          <a:p>
            <a:pPr/>
            <a:r>
              <a:t>03</a:t>
            </a:r>
          </a:p>
        </p:txBody>
      </p:sp>
      <p:sp>
        <p:nvSpPr>
          <p:cNvPr id="162" name="Text 12"/>
          <p:cNvSpPr txBox="1"/>
          <p:nvPr/>
        </p:nvSpPr>
        <p:spPr>
          <a:xfrm>
            <a:off x="6492240" y="2969961"/>
            <a:ext cx="2148841"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Join Classroom</a:t>
            </a:r>
          </a:p>
        </p:txBody>
      </p:sp>
      <p:sp>
        <p:nvSpPr>
          <p:cNvPr id="163" name="Text 13"/>
          <p:cNvSpPr txBox="1"/>
          <p:nvPr/>
        </p:nvSpPr>
        <p:spPr>
          <a:xfrm>
            <a:off x="6492240" y="3610004"/>
            <a:ext cx="2148841" cy="42437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5000"/>
              </a:lnSpc>
              <a:defRPr sz="1100">
                <a:solidFill>
                  <a:srgbClr val="9AA0AC"/>
                </a:solidFill>
              </a:defRPr>
            </a:lvl1pPr>
          </a:lstStyle>
          <a:p>
            <a:pPr/>
            <a:r>
              <a:t>Enter invite code: [CLASS_INVITE_CODE]</a:t>
            </a:r>
          </a:p>
        </p:txBody>
      </p:sp>
      <p:sp>
        <p:nvSpPr>
          <p:cNvPr id="164" name="Shape 14"/>
          <p:cNvSpPr/>
          <p:nvPr/>
        </p:nvSpPr>
        <p:spPr>
          <a:xfrm>
            <a:off x="9052559" y="2148839"/>
            <a:ext cx="2697481" cy="2331722"/>
          </a:xfrm>
          <a:prstGeom prst="roundRect">
            <a:avLst>
              <a:gd name="adj" fmla="val 3529"/>
            </a:avLst>
          </a:prstGeom>
          <a:solidFill>
            <a:srgbClr val="13151C"/>
          </a:solidFill>
          <a:ln w="12700">
            <a:solidFill>
              <a:srgbClr val="23262F"/>
            </a:solidFill>
          </a:ln>
        </p:spPr>
        <p:txBody>
          <a:bodyPr lIns="45719" rIns="45719"/>
          <a:lstStyle/>
          <a:p>
            <a:pPr/>
          </a:p>
        </p:txBody>
      </p:sp>
      <p:sp>
        <p:nvSpPr>
          <p:cNvPr id="165" name="Text 15"/>
          <p:cNvSpPr txBox="1"/>
          <p:nvPr/>
        </p:nvSpPr>
        <p:spPr>
          <a:xfrm>
            <a:off x="9326879" y="2414269"/>
            <a:ext cx="214884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000">
                <a:solidFill>
                  <a:srgbClr val="F59E0B"/>
                </a:solidFill>
                <a:latin typeface="Courier New"/>
                <a:ea typeface="Courier New"/>
                <a:cs typeface="Courier New"/>
                <a:sym typeface="Courier New"/>
              </a:defRPr>
            </a:lvl1pPr>
          </a:lstStyle>
          <a:p>
            <a:pPr/>
            <a:r>
              <a:t>04</a:t>
            </a:r>
          </a:p>
        </p:txBody>
      </p:sp>
      <p:sp>
        <p:nvSpPr>
          <p:cNvPr id="166" name="Text 16"/>
          <p:cNvSpPr txBox="1"/>
          <p:nvPr/>
        </p:nvSpPr>
        <p:spPr>
          <a:xfrm>
            <a:off x="9326879" y="2969961"/>
            <a:ext cx="2148841"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F5F6F8"/>
                </a:solidFill>
              </a:defRPr>
            </a:lvl1pPr>
          </a:lstStyle>
          <a:p>
            <a:pPr/>
            <a:r>
              <a:t>Start Coding</a:t>
            </a:r>
          </a:p>
        </p:txBody>
      </p:sp>
      <p:sp>
        <p:nvSpPr>
          <p:cNvPr id="167" name="Text 17"/>
          <p:cNvSpPr txBox="1"/>
          <p:nvPr/>
        </p:nvSpPr>
        <p:spPr>
          <a:xfrm>
            <a:off x="9326879" y="3610004"/>
            <a:ext cx="2148841" cy="42437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nSpc>
                <a:spcPct val="125000"/>
              </a:lnSpc>
              <a:defRPr sz="1100">
                <a:solidFill>
                  <a:srgbClr val="9AA0AC"/>
                </a:solidFill>
              </a:defRPr>
            </a:lvl1pPr>
          </a:lstStyle>
          <a:p>
            <a:pPr/>
            <a:r>
              <a:t>Visualize your first program — and start your streak</a:t>
            </a:r>
          </a:p>
        </p:txBody>
      </p:sp>
      <p:sp>
        <p:nvSpPr>
          <p:cNvPr id="168" name="Shape 18"/>
          <p:cNvSpPr/>
          <p:nvPr/>
        </p:nvSpPr>
        <p:spPr>
          <a:xfrm>
            <a:off x="548640" y="4892040"/>
            <a:ext cx="11201401" cy="868681"/>
          </a:xfrm>
          <a:prstGeom prst="roundRect">
            <a:avLst>
              <a:gd name="adj" fmla="val 9474"/>
            </a:avLst>
          </a:prstGeom>
          <a:solidFill>
            <a:srgbClr val="3B82F6"/>
          </a:solidFill>
          <a:ln w="12700">
            <a:miter lim="400000"/>
          </a:ln>
        </p:spPr>
        <p:txBody>
          <a:bodyPr lIns="45719" rIns="45719"/>
          <a:lstStyle/>
          <a:p>
            <a:pPr/>
          </a:p>
        </p:txBody>
      </p:sp>
      <p:sp>
        <p:nvSpPr>
          <p:cNvPr id="169" name="Text 19"/>
          <p:cNvSpPr txBox="1"/>
          <p:nvPr/>
        </p:nvSpPr>
        <p:spPr>
          <a:xfrm>
            <a:off x="815340" y="5187382"/>
            <a:ext cx="1056132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b="1" sz="1500">
                <a:solidFill>
                  <a:srgbClr val="FFFFFF"/>
                </a:solidFill>
              </a:defRPr>
            </a:pPr>
            <a:r>
              <a:t>Scan the code on screen right now — or open </a:t>
            </a:r>
            <a:r>
              <a:rPr u="sng">
                <a:solidFill>
                  <a:srgbClr val="0563C1"/>
                </a:solidFill>
                <a:uFill>
                  <a:solidFill>
                    <a:srgbClr val="0563C1"/>
                  </a:solidFill>
                </a:uFill>
                <a:hlinkClick r:id="rId3" invalidUrl="" action="" tgtFrame="" tooltip="" history="1" highlightClick="0" endSnd="0"/>
              </a:rPr>
              <a:t>https://lpu-code-viz.vercel.app/</a:t>
            </a:r>
            <a:r>
              <a:t> on your phone.</a:t>
            </a:r>
          </a:p>
        </p:txBody>
      </p:sp>
      <p:sp>
        <p:nvSpPr>
          <p:cNvPr id="170" name="Text 20"/>
          <p:cNvSpPr txBox="1"/>
          <p:nvPr/>
        </p:nvSpPr>
        <p:spPr>
          <a:xfrm>
            <a:off x="502919" y="6563106"/>
            <a:ext cx="2651762"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pc="100" sz="800">
                <a:solidFill>
                  <a:srgbClr val="6B7280"/>
                </a:solidFill>
                <a:latin typeface="Courier New"/>
                <a:ea typeface="Courier New"/>
                <a:cs typeface="Courier New"/>
                <a:sym typeface="Courier New"/>
              </a:defRPr>
            </a:lvl1pPr>
          </a:lstStyle>
          <a:p>
            <a:pPr/>
            <a:r>
              <a:t>CODECANVAS</a:t>
            </a:r>
          </a:p>
        </p:txBody>
      </p:sp>
      <p:sp>
        <p:nvSpPr>
          <p:cNvPr id="171" name="Text 21"/>
          <p:cNvSpPr txBox="1"/>
          <p:nvPr/>
        </p:nvSpPr>
        <p:spPr>
          <a:xfrm>
            <a:off x="11384279" y="6563106"/>
            <a:ext cx="365761" cy="205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6B7280"/>
                </a:solidFill>
                <a:latin typeface="Courier New"/>
                <a:ea typeface="Courier New"/>
                <a:cs typeface="Courier New"/>
                <a:sym typeface="Courier New"/>
              </a:defRPr>
            </a:lvl1pPr>
          </a:lstStyle>
          <a:p>
            <a:pPr/>
            <a:r>
              <a:t>07</a:t>
            </a:r>
          </a:p>
        </p:txBody>
      </p:sp>
      <p:pic>
        <p:nvPicPr>
          <p:cNvPr id="172" name="codecanvas_icon_dark_256.png" descr="codecanvas_icon_dark_256.png"/>
          <p:cNvPicPr>
            <a:picLocks noChangeAspect="1"/>
          </p:cNvPicPr>
          <p:nvPr/>
        </p:nvPicPr>
        <p:blipFill>
          <a:blip r:embed="rId4">
            <a:extLst/>
          </a:blip>
          <a:stretch>
            <a:fillRect/>
          </a:stretch>
        </p:blipFill>
        <p:spPr>
          <a:xfrm>
            <a:off x="11088582" y="161503"/>
            <a:ext cx="957154" cy="957154"/>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6" name="codecanvas_background_1920x1080.png" descr="codecanvas_background_1920x1080.png"/>
          <p:cNvPicPr>
            <a:picLocks noChangeAspect="1"/>
          </p:cNvPicPr>
          <p:nvPr/>
        </p:nvPicPr>
        <p:blipFill>
          <a:blip r:embed="rId2">
            <a:extLst/>
          </a:blip>
          <a:stretch>
            <a:fillRect/>
          </a:stretch>
        </p:blipFill>
        <p:spPr>
          <a:xfrm>
            <a:off x="0" y="0"/>
            <a:ext cx="12192000" cy="6858000"/>
          </a:xfrm>
          <a:prstGeom prst="rect">
            <a:avLst/>
          </a:prstGeom>
          <a:ln w="12700">
            <a:miter lim="400000"/>
          </a:ln>
        </p:spPr>
      </p:pic>
      <p:pic>
        <p:nvPicPr>
          <p:cNvPr id="177" name="pasted-movie.png" descr="pasted-movie.png"/>
          <p:cNvPicPr>
            <a:picLocks noChangeAspect="1"/>
          </p:cNvPicPr>
          <p:nvPr/>
        </p:nvPicPr>
        <p:blipFill>
          <a:blip r:embed="rId3">
            <a:extLst/>
          </a:blip>
          <a:stretch>
            <a:fillRect/>
          </a:stretch>
        </p:blipFill>
        <p:spPr>
          <a:xfrm>
            <a:off x="4772352" y="1163619"/>
            <a:ext cx="2647296" cy="2647296"/>
          </a:xfrm>
          <a:prstGeom prst="rect">
            <a:avLst/>
          </a:prstGeom>
          <a:ln w="12700">
            <a:miter lim="400000"/>
          </a:ln>
        </p:spPr>
      </p:pic>
      <p:sp>
        <p:nvSpPr>
          <p:cNvPr id="178" name="https://lpu-code-viz.vercel.app/"/>
          <p:cNvSpPr txBox="1"/>
          <p:nvPr/>
        </p:nvSpPr>
        <p:spPr>
          <a:xfrm>
            <a:off x="4574605" y="3791881"/>
            <a:ext cx="3042790"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A8A8A8"/>
                </a:solidFill>
              </a:defRPr>
            </a:lvl1pPr>
          </a:lstStyle>
          <a:p>
            <a:pPr/>
            <a:r>
              <a:t>https://lpu-code-viz.vercel.app/</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0" name="codecanvas_background_1920x1080.png" descr="codecanvas_background_1920x1080.png"/>
          <p:cNvPicPr>
            <a:picLocks noChangeAspect="1"/>
          </p:cNvPicPr>
          <p:nvPr/>
        </p:nvPicPr>
        <p:blipFill>
          <a:blip r:embed="rId2">
            <a:extLst/>
          </a:blip>
          <a:stretch>
            <a:fillRect/>
          </a:stretch>
        </p:blipFill>
        <p:spPr>
          <a:xfrm>
            <a:off x="0" y="0"/>
            <a:ext cx="12192000" cy="6858000"/>
          </a:xfrm>
          <a:prstGeom prst="rect">
            <a:avLst/>
          </a:prstGeom>
          <a:ln w="12700">
            <a:miter lim="400000"/>
          </a:ln>
        </p:spPr>
      </p:pic>
      <p:pic>
        <p:nvPicPr>
          <p:cNvPr id="181" name="pasted-movie.png" descr="pasted-movie.png"/>
          <p:cNvPicPr>
            <a:picLocks noChangeAspect="1"/>
          </p:cNvPicPr>
          <p:nvPr/>
        </p:nvPicPr>
        <p:blipFill>
          <a:blip r:embed="rId3">
            <a:extLst/>
          </a:blip>
          <a:stretch>
            <a:fillRect/>
          </a:stretch>
        </p:blipFill>
        <p:spPr>
          <a:xfrm>
            <a:off x="4688527" y="974928"/>
            <a:ext cx="2814946" cy="2814946"/>
          </a:xfrm>
          <a:prstGeom prst="rect">
            <a:avLst/>
          </a:prstGeom>
          <a:ln w="12700">
            <a:miter lim="400000"/>
          </a:ln>
        </p:spPr>
      </p:pic>
      <p:sp>
        <p:nvSpPr>
          <p:cNvPr id="182" name="https://forms.gle/tT6z6kVE1X7UnduT6"/>
          <p:cNvSpPr txBox="1"/>
          <p:nvPr/>
        </p:nvSpPr>
        <p:spPr>
          <a:xfrm>
            <a:off x="4237230" y="3791881"/>
            <a:ext cx="3717540"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a:solidFill>
                  <a:srgbClr val="A7A7A7"/>
                </a:solidFill>
              </a:defRPr>
            </a:lvl1pPr>
          </a:lstStyle>
          <a:p>
            <a:pPr/>
            <a:r>
              <a:t>https://forms.gle/tT6z6kVE1X7UnduT6</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